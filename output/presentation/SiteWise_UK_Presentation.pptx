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8cef4a94df4a0f" /><Relationship Type="http://schemas.openxmlformats.org/officeDocument/2006/relationships/extended-properties" Target="/docProps/app.xml" Id="R74f06a9cd38c405a" /><Relationship Type="http://schemas.openxmlformats.org/officeDocument/2006/relationships/officeDocument" Target="/ppt/presentation.xml" Id="R47436f464e2e4fcc" /></Relationships>
</file>

<file path=ppt/presentation.xml><?xml version="1.0" encoding="utf-8"?>
<p:presentation xmlns:p="http://schemas.openxmlformats.org/presentationml/2006/main">
  <p:sldMasterIdLst>
    <p:sldMasterId xmlns:r="http://schemas.openxmlformats.org/officeDocument/2006/relationships" id="2147483648" r:id="Rdab83c5b5be94856"/>
  </p:sldMasterIdLst>
  <p:notesMasterIdLst>
    <p:notesMasterId xmlns:r="http://schemas.openxmlformats.org/officeDocument/2006/relationships" r:id="R253e82a659fd4fc8"/>
  </p:notesMasterIdLst>
  <p:sldIdLst>
    <p:sldId xmlns:r="http://schemas.openxmlformats.org/officeDocument/2006/relationships" id="256" r:id="Rf9417852c3b34534"/>
    <p:sldId xmlns:r="http://schemas.openxmlformats.org/officeDocument/2006/relationships" id="257" r:id="R37b3286341ed470b"/>
    <p:sldId xmlns:r="http://schemas.openxmlformats.org/officeDocument/2006/relationships" id="258" r:id="Rf5eabacb71534b51"/>
    <p:sldId xmlns:r="http://schemas.openxmlformats.org/officeDocument/2006/relationships" id="259" r:id="R3d79d6d1afa0401d"/>
    <p:sldId xmlns:r="http://schemas.openxmlformats.org/officeDocument/2006/relationships" id="260" r:id="R737bab62ed0941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9dded035d2463b" /><Relationship Type="http://schemas.openxmlformats.org/officeDocument/2006/relationships/slideMaster" Target="/ppt/slideMasters/slideMaster1.xml" Id="Rdab83c5b5be94856" /><Relationship Type="http://schemas.openxmlformats.org/officeDocument/2006/relationships/notesMaster" Target="/ppt/notesMasters/notesMaster1.xml" Id="R253e82a659fd4fc8" /><Relationship Type="http://schemas.openxmlformats.org/officeDocument/2006/relationships/presProps" Target="/ppt/presProps.xml" Id="Rb452c87efca84d29" /><Relationship Type="http://schemas.openxmlformats.org/officeDocument/2006/relationships/tableStyles" Target="/ppt/tableStyles.xml" Id="Rc7055ece32a54993" /><Relationship Type="http://schemas.openxmlformats.org/officeDocument/2006/relationships/slide" Target="/ppt/slides/slide1.xml" Id="Rf9417852c3b34534" /><Relationship Type="http://schemas.openxmlformats.org/officeDocument/2006/relationships/slide" Target="/ppt/slides/slide2.xml" Id="R37b3286341ed470b" /><Relationship Type="http://schemas.openxmlformats.org/officeDocument/2006/relationships/slide" Target="/ppt/slides/slide3.xml" Id="Rf5eabacb71534b51" /><Relationship Type="http://schemas.openxmlformats.org/officeDocument/2006/relationships/slide" Target="/ppt/slides/slide4.xml" Id="R3d79d6d1afa0401d" /><Relationship Type="http://schemas.openxmlformats.org/officeDocument/2006/relationships/slide" Target="/ppt/slides/slide5.xml" Id="R737bab62ed0941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1f27875be147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c2838fd1ff44b7" /><Relationship Type="http://schemas.openxmlformats.org/officeDocument/2006/relationships/notesMaster" Target="/ppt/notesMasters/notesMaster1.xml" Id="Ra6861863830f48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30f8bb5e1e425f" /><Relationship Type="http://schemas.openxmlformats.org/officeDocument/2006/relationships/notesMaster" Target="/ppt/notesMasters/notesMaster1.xml" Id="R1a48e129f20549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830acc9cc241bf" /><Relationship Type="http://schemas.openxmlformats.org/officeDocument/2006/relationships/notesMaster" Target="/ppt/notesMasters/notesMaster1.xml" Id="Ra6ff9628867341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5dfaa144a3400c" /><Relationship Type="http://schemas.openxmlformats.org/officeDocument/2006/relationships/notesMaster" Target="/ppt/notesMasters/notesMaster1.xml" Id="R31373ec13c8d4a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f2403617f94c2a" /><Relationship Type="http://schemas.openxmlformats.org/officeDocument/2006/relationships/notesMaster" Target="/ppt/notesMasters/notesMaster1.xml" Id="R465d3b961fcb4a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
            </a:r>
          </a:p>
          <a:p xmlns:a="http://schemas.openxmlformats.org/drawingml/2006/main">
            <a:r>
              <a:t>SiteWise UK helps people understand planning considerations before committing to a property. The idea came from my family looking at a development site. We discovered that a protected tree complicated the building layout. For buyers unfamiliar with the UK planning process, important information is scattered across council documents, maps and previous applications. We wanted to bring those checks forward.</a:t>
            </a:r>
          </a:p>
          <a:p xmlns:a="http://schemas.openxmlformats.org/drawingml/2006/main">
            <a:r>
              <a:t/>
            </a:r>
          </a:p>
          <a:p xmlns:a="http://schemas.openxmlformats.org/drawingml/2006/main">
            <a:r>
              <a:t>Sources (not spoken):</a:t>
            </a:r>
          </a:p>
          <a:p xmlns:a="http://schemas.openxmlformats.org/drawingml/2006/main">
            <a:r>
              <a:t>Problem story: project founder's account supplied in the conversation. Product scope: README.md and Docs/COUNCIL_POLICY.md.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0:25–0:45</a:t>
            </a:r>
          </a:p>
          <a:p xmlns:a="http://schemas.openxmlformats.org/drawingml/2006/main">
            <a:r>
              <a:t/>
            </a:r>
          </a:p>
          <a:p xmlns:a="http://schemas.openxmlformats.org/drawingml/2006/main">
            <a:r>
              <a:t>You choose a location and describe your proposal. SiteWise retrieves council guidance, checks available spatial layers and searches nearby or similar applications. The dashboard explains what needs investigation and links back to the evidence. An optional AI summary explains those results, while missing information stays explicitly unknown.</a:t>
            </a:r>
          </a:p>
          <a:p xmlns:a="http://schemas.openxmlformats.org/drawingml/2006/main">
            <a:r>
              <a:t/>
            </a:r>
          </a:p>
          <a:p xmlns:a="http://schemas.openxmlformats.org/drawingml/2006/main">
            <a:r>
              <a:t>Sources (not spoken):</a:t>
            </a:r>
          </a:p>
          <a:p xmlns:a="http://schemas.openxmlformats.org/drawingml/2006/main">
            <a:r>
              <a:t>Implementation: sitewise/evidence.py, sitewise/policies.py, sitewise/llm.py, sitewise/webapp.py.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0:45–1:10</a:t>
            </a:r>
          </a:p>
          <a:p xmlns:a="http://schemas.openxmlformats.org/drawingml/2006/main">
            <a:r>
              <a:t/>
            </a:r>
          </a:p>
          <a:p xmlns:a="http://schemas.openxmlformats.org/drawingml/2006/main">
            <a:r>
              <a:t>We combine the supplied London planning dataset with public GLA spatial layers and the Planning Data API. Official council webpages and PDFs add the actual guidance relevant to a proposal. That distinction matters: a map designation alone does not explain the rule. Our council-text pilot currently covers Wandsworth, Westminster and Lambeth, plus selected London-wide policies.</a:t>
            </a:r>
          </a:p>
          <a:p xmlns:a="http://schemas.openxmlformats.org/drawingml/2006/main">
            <a:r>
              <a:t/>
            </a:r>
          </a:p>
          <a:p xmlns:a="http://schemas.openxmlformats.org/drawingml/2006/main">
            <a:r>
              <a:t>Sources (not spoken):</a:t>
            </a:r>
          </a:p>
          <a:p xmlns:a="http://schemas.openxmlformats.org/drawingml/2006/main">
            <a:r>
              <a:t>Supplied file: Data/raw/foundations_london_housing_2022_2025_20260810T013626Z.csv</a:t>
            </a:r>
          </a:p>
          <a:p xmlns:a="http://schemas.openxmlformats.org/drawingml/2006/main">
            <a:r>
              <a:t>GLA: https://data.london.gov.uk/dataset/planning-local-plan-data-2zjmn</a:t>
            </a:r>
          </a:p>
          <a:p xmlns:a="http://schemas.openxmlformats.org/drawingml/2006/main">
            <a:r>
              <a:t>Planning Data: https://www.planning.data.gov.uk/</a:t>
            </a:r>
          </a:p>
          <a:p xmlns:a="http://schemas.openxmlformats.org/drawingml/2006/main">
            <a:r>
              <a:t>Council-source registry and exact URLs: sitewise/policy_sources.py</a:t>
            </a:r>
          </a:p>
          <a:p xmlns:a="http://schemas.openxmlformats.org/drawingml/2006/main">
            <a:r>
              <a:t>Coverage: Docs/COUNCIL_POLICY.md.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1:10–1:35</a:t>
            </a:r>
          </a:p>
          <a:p xmlns:a="http://schemas.openxmlformats.org/drawingml/2006/main">
            <a:r>
              <a:t/>
            </a:r>
          </a:p>
          <a:p xmlns:a="http://schemas.openxmlformats.org/drawingml/2006/main">
            <a:r>
              <a:t>We built on the comparable-application approach from 0-the-spike, adapting TF-IDF and cosine similarity to our CSV. ConfidentPlanner informed spatial and nearby searches, while 0-RIBS informed validation and caching. We independently implemented concepts where licensing restricted copying. We did not import their approval models, and a similarity score never represents an approval probability.</a:t>
            </a:r>
          </a:p>
          <a:p xmlns:a="http://schemas.openxmlformats.org/drawingml/2006/main">
            <a:r>
              <a:t/>
            </a:r>
          </a:p>
          <a:p xmlns:a="http://schemas.openxmlformats.org/drawingml/2006/main">
            <a:r>
              <a:t>Sources (not spoken):</a:t>
            </a:r>
          </a:p>
          <a:p xmlns:a="http://schemas.openxmlformats.org/drawingml/2006/main">
            <a:r>
              <a:t>Source of truth: LEGACY_REUSE.md</a:t>
            </a:r>
          </a:p>
          <a:p xmlns:a="http://schemas.openxmlformats.org/drawingml/2006/main">
            <a:r>
              <a:t>https://github.com/house-london/0-the-spike (MIT licence)</a:t>
            </a:r>
          </a:p>
          <a:p xmlns:a="http://schemas.openxmlformats.org/drawingml/2006/main">
            <a:r>
              <a:t>https://github.com/athuler/ConfidentPlanner (implementation reference only)</a:t>
            </a:r>
          </a:p>
          <a:p xmlns:a="http://schemas.openxmlformats.org/drawingml/2006/main">
            <a:r>
              <a:t>https://github.com/house-london/0-RIBS (implementation reference only)</a:t>
            </a:r>
          </a:p>
          <a:p xmlns:a="http://schemas.openxmlformats.org/drawingml/2006/main">
            <a:r>
              <a:t>Implementation: sitewise/similarity.py and sitewise/planning.py.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1:35–1:50</a:t>
            </a:r>
          </a:p>
          <a:p xmlns:a="http://schemas.openxmlformats.org/drawingml/2006/main">
            <a:r>
              <a:t/>
            </a:r>
          </a:p>
          <a:p xmlns:a="http://schemas.openxmlformats.org/drawingml/2006/main">
            <a:r>
              <a:t>Let me show you a proposal for a rear extension and two new homes. I will select a location, review the council guidance and show which issues still need checking. This is preliminary screening to support a better planning conversation.</a:t>
            </a:r>
          </a:p>
          <a:p xmlns:a="http://schemas.openxmlformats.org/drawingml/2006/main">
            <a:r>
              <a:t/>
            </a:r>
          </a:p>
          <a:p xmlns:a="http://schemas.openxmlformats.org/drawingml/2006/main">
            <a:r>
              <a:t>Sources (not spoken):</a:t>
            </a:r>
          </a:p>
          <a:p xmlns:a="http://schemas.openxmlformats.org/drawingml/2006/main">
            <a:r>
              <a:t>Live demonstration of the local SiteWise UK web application. The example is illustrative and does not assert the existence of a specific residential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091ea43db740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719a75d83c4099" /><Relationship Type="http://schemas.openxmlformats.org/officeDocument/2006/relationships/slideLayout" Target="/ppt/slideLayouts/slideLayout1.xml" Id="R4a2793481c2940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2793481c2940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76f9ece7e64d3f" /><Relationship Type="http://schemas.openxmlformats.org/officeDocument/2006/relationships/notesSlide" Target="/ppt/notesSlides/notesSlide1.xml" Id="Raf16b2b268f548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a225d1c07b4ca2" /><Relationship Type="http://schemas.openxmlformats.org/officeDocument/2006/relationships/notesSlide" Target="/ppt/notesSlides/notesSlide2.xml" Id="R5e2590c0bce74e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407430f15949fb" /><Relationship Type="http://schemas.openxmlformats.org/officeDocument/2006/relationships/notesSlide" Target="/ppt/notesSlides/notesSlide3.xml" Id="Re01b4639a9da41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4efa6c9bc245eb" /><Relationship Type="http://schemas.openxmlformats.org/officeDocument/2006/relationships/notesSlide" Target="/ppt/notesSlides/notesSlide4.xml" Id="R27c6f286c1f943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cd9aa4af1f4ef1" /><Relationship Type="http://schemas.openxmlformats.org/officeDocument/2006/relationships/notesSlide" Target="/ppt/notesSlides/notesSlide5.xml" Id="R2039101ded334810" /></Relationships>
</file>

<file path=ppt/slides/slide1.xml><?xml version="1.0" encoding="utf-8"?>
<p:sld xmlns:p="http://schemas.openxmlformats.org/presentationml/2006/main">
  <p:cSld>
    <p:bg>
      <p:bgPr>
        <a:solidFill xmlns:a="http://schemas.openxmlformats.org/drawingml/2006/main">
          <a:srgbClr val="142D4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A9AE50-4E50-48CA-A548-0D61A8DEA8DB}"/>
              </a:ext>
            </a:extLst>
          </p:cNvPr>
          <p:cNvSpPr>
            <a:spLocks xmlns:a="http://schemas.openxmlformats.org/drawingml/2006/main" noGrp="1"/>
          </p:cNvSpPr>
          <p:nvPr/>
        </p:nvSpPr>
        <p:spPr>
          <a:xfrm xmlns:a="http://schemas.openxmlformats.org/drawingml/2006/main">
            <a:off x="723900" y="10001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SiteWise UK</a:t>
            </a:r>
          </a:p>
        </p:txBody>
      </p:sp>
      <p:sp>
        <p:nvSpPr>
          <p:cNvPr id="2" name="">
            <a:extLst xmlns:a="http://schemas.openxmlformats.org/drawingml/2006/main">
              <a:ext uri="{FF2B5EF4-FFF2-40B4-BE49-F238E27FC236}">
                <a16:creationId xmlns:a16="http://schemas.microsoft.com/office/drawing/2014/main" id="{31A7EDCA-6ED4-4B60-8211-78A7437827F1}"/>
              </a:ext>
            </a:extLst>
          </p:cNvPr>
          <p:cNvSpPr>
            <a:spLocks xmlns:a="http://schemas.openxmlformats.org/drawingml/2006/main" noGrp="1"/>
          </p:cNvSpPr>
          <p:nvPr/>
        </p:nvSpPr>
        <p:spPr>
          <a:xfrm xmlns:a="http://schemas.openxmlformats.org/drawingml/2006/main">
            <a:off x="762000" y="2409825"/>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57D3C4"/>
                </a:solidFill>
                <a:latin typeface="Arial"/>
                <a:ea typeface="Arial"/>
                <a:cs typeface="Arial"/>
              </a:defRPr>
            </a:pPr>
            <a:r>
              <a:rPr sz="3225" b="0">
                <a:solidFill>
                  <a:srgbClr val="57D3C4"/>
                </a:solidFill>
                <a:latin typeface="Arial"/>
                <a:ea typeface="Arial"/>
                <a:cs typeface="Arial"/>
              </a:rPr>
              <a:t>Planning checks before committing</a:t>
            </a:r>
          </a:p>
          <a:p xmlns:a="http://schemas.openxmlformats.org/drawingml/2006/main">
            <a:pPr>
              <a:defRPr sz="3225" b="0">
                <a:solidFill>
                  <a:srgbClr val="57D3C4"/>
                </a:solidFill>
                <a:latin typeface="Arial"/>
                <a:ea typeface="Arial"/>
                <a:cs typeface="Arial"/>
              </a:defRPr>
            </a:pPr>
            <a:r>
              <a:rPr sz="3225" b="0">
                <a:solidFill>
                  <a:srgbClr val="57D3C4"/>
                </a:solidFill>
                <a:latin typeface="Arial"/>
                <a:ea typeface="Arial"/>
                <a:cs typeface="Arial"/>
              </a:rPr>
              <a:t>to a property or design</a:t>
            </a:r>
          </a:p>
        </p:txBody>
      </p:sp>
      <p:sp>
        <p:nvSpPr>
          <p:cNvPr id="3" name="">
            <a:extLst xmlns:a="http://schemas.openxmlformats.org/drawingml/2006/main">
              <a:ext uri="{FF2B5EF4-FFF2-40B4-BE49-F238E27FC236}">
                <a16:creationId xmlns:a16="http://schemas.microsoft.com/office/drawing/2014/main" id="{1EE85FF6-725A-48A6-9023-E15D21F679CD}"/>
              </a:ext>
            </a:extLst>
          </p:cNvPr>
          <p:cNvSpPr>
            <a:spLocks xmlns:a="http://schemas.openxmlformats.org/drawingml/2006/main" noGrp="1"/>
          </p:cNvSpPr>
          <p:nvPr/>
        </p:nvSpPr>
        <p:spPr>
          <a:xfrm xmlns:a="http://schemas.openxmlformats.org/drawingml/2006/main">
            <a:off x="762000" y="469582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 protected tree can change the whole building layout</a:t>
            </a:r>
          </a:p>
        </p:txBody>
      </p:sp>
      <p:sp>
        <p:nvSpPr>
          <p:cNvPr id="4" name="">
            <a:extLst xmlns:a="http://schemas.openxmlformats.org/drawingml/2006/main">
              <a:ext uri="{FF2B5EF4-FFF2-40B4-BE49-F238E27FC236}">
                <a16:creationId xmlns:a16="http://schemas.microsoft.com/office/drawing/2014/main" id="{8CD1844B-C5A8-47A4-9B0A-1AA772265D51}"/>
              </a:ext>
            </a:extLst>
          </p:cNvPr>
          <p:cNvSpPr>
            <a:spLocks xmlns:a="http://schemas.openxmlformats.org/drawingml/2006/main" noGrp="1"/>
          </p:cNvSpPr>
          <p:nvPr/>
        </p:nvSpPr>
        <p:spPr>
          <a:xfrm xmlns:a="http://schemas.openxmlformats.org/drawingml/2006/main">
            <a:off x="762000" y="60769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DC3DB"/>
                </a:solidFill>
                <a:latin typeface="Arial"/>
                <a:ea typeface="Arial"/>
                <a:cs typeface="Arial"/>
              </a:defRPr>
            </a:pPr>
            <a:r>
              <a:rPr sz="1725" b="0">
                <a:solidFill>
                  <a:srgbClr val="ADC3DB"/>
                </a:solidFill>
                <a:latin typeface="Arial"/>
                <a:ea typeface="Arial"/>
                <a:cs typeface="Arial"/>
              </a:rPr>
              <a:t>House London #2 Data Hackathon</a:t>
            </a:r>
          </a:p>
        </p:txBody>
      </p:sp>
    </p:spTree>
    <p:extLst>
      <p:ext uri="{BB962C8B-B14F-4D97-AF65-F5344CB8AC3E}">
        <p14:creationId xmlns:p14="http://schemas.microsoft.com/office/powerpoint/2010/main" val="559411664"/>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060CDB-F240-4269-8468-8FF5EEFBDC17}"/>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D4E"/>
                </a:solidFill>
                <a:latin typeface="Arial"/>
                <a:ea typeface="Arial"/>
                <a:cs typeface="Arial"/>
              </a:defRPr>
            </a:pPr>
            <a:r>
              <a:rPr sz="3450" b="1">
                <a:solidFill>
                  <a:srgbClr val="142D4E"/>
                </a:solidFill>
                <a:latin typeface="Arial"/>
                <a:ea typeface="Arial"/>
                <a:cs typeface="Arial"/>
              </a:rPr>
              <a:t>A site screen before the design</a:t>
            </a:r>
          </a:p>
        </p:txBody>
      </p:sp>
      <p:sp>
        <p:nvSpPr>
          <p:cNvPr id="2" name="">
            <a:extLst xmlns:a="http://schemas.openxmlformats.org/drawingml/2006/main">
              <a:ext uri="{FF2B5EF4-FFF2-40B4-BE49-F238E27FC236}">
                <a16:creationId xmlns:a16="http://schemas.microsoft.com/office/drawing/2014/main" id="{A0342088-427F-40F5-B594-2397007BEA61}"/>
              </a:ext>
            </a:extLst>
          </p:cNvPr>
          <p:cNvSpPr>
            <a:spLocks xmlns:a="http://schemas.openxmlformats.org/drawingml/2006/main" noGrp="1"/>
          </p:cNvSpPr>
          <p:nvPr/>
        </p:nvSpPr>
        <p:spPr>
          <a:xfrm xmlns:a="http://schemas.openxmlformats.org/drawingml/2006/main">
            <a:off x="742950" y="18002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A9B90"/>
                </a:solidFill>
                <a:latin typeface="Arial"/>
                <a:ea typeface="Arial"/>
                <a:cs typeface="Arial"/>
              </a:defRPr>
            </a:pPr>
            <a:r>
              <a:rPr sz="2550" b="1">
                <a:solidFill>
                  <a:srgbClr val="0A9B9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9C8F6A3-0BF2-4393-9812-1D624EFD447E}"/>
              </a:ext>
            </a:extLst>
          </p:cNvPr>
          <p:cNvSpPr>
            <a:spLocks xmlns:a="http://schemas.openxmlformats.org/drawingml/2006/main" noGrp="1"/>
          </p:cNvSpPr>
          <p:nvPr/>
        </p:nvSpPr>
        <p:spPr>
          <a:xfrm xmlns:a="http://schemas.openxmlformats.org/drawingml/2006/main">
            <a:off x="1666875" y="18097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2D4E"/>
                </a:solidFill>
                <a:latin typeface="Arial"/>
                <a:ea typeface="Arial"/>
                <a:cs typeface="Arial"/>
              </a:defRPr>
            </a:pPr>
            <a:r>
              <a:rPr sz="2400" b="1">
                <a:solidFill>
                  <a:srgbClr val="142D4E"/>
                </a:solidFill>
                <a:latin typeface="Arial"/>
                <a:ea typeface="Arial"/>
                <a:cs typeface="Arial"/>
              </a:rPr>
              <a:t>Choose a location and describe the proposal</a:t>
            </a:r>
          </a:p>
        </p:txBody>
      </p:sp>
      <p:sp>
        <p:nvSpPr>
          <p:cNvPr id="4" name="">
            <a:extLst xmlns:a="http://schemas.openxmlformats.org/drawingml/2006/main">
              <a:ext uri="{FF2B5EF4-FFF2-40B4-BE49-F238E27FC236}">
                <a16:creationId xmlns:a16="http://schemas.microsoft.com/office/drawing/2014/main" id="{E4FD19B8-EA22-4648-AA50-D7FADE916863}"/>
              </a:ext>
            </a:extLst>
          </p:cNvPr>
          <p:cNvSpPr>
            <a:spLocks xmlns:a="http://schemas.openxmlformats.org/drawingml/2006/main" noGrp="1"/>
          </p:cNvSpPr>
          <p:nvPr/>
        </p:nvSpPr>
        <p:spPr>
          <a:xfrm xmlns:a="http://schemas.openxmlformats.org/drawingml/2006/main">
            <a:off x="742950" y="28575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A9B90"/>
                </a:solidFill>
                <a:latin typeface="Arial"/>
                <a:ea typeface="Arial"/>
                <a:cs typeface="Arial"/>
              </a:defRPr>
            </a:pPr>
            <a:r>
              <a:rPr sz="2550" b="1">
                <a:solidFill>
                  <a:srgbClr val="0A9B90"/>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5B02BD2-4425-41F8-86B0-76D15FED83B2}"/>
              </a:ext>
            </a:extLst>
          </p:cNvPr>
          <p:cNvSpPr>
            <a:spLocks xmlns:a="http://schemas.openxmlformats.org/drawingml/2006/main" noGrp="1"/>
          </p:cNvSpPr>
          <p:nvPr/>
        </p:nvSpPr>
        <p:spPr>
          <a:xfrm xmlns:a="http://schemas.openxmlformats.org/drawingml/2006/main">
            <a:off x="1666875" y="2867025"/>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2D4E"/>
                </a:solidFill>
                <a:latin typeface="Arial"/>
                <a:ea typeface="Arial"/>
                <a:cs typeface="Arial"/>
              </a:defRPr>
            </a:pPr>
            <a:r>
              <a:rPr sz="2400" b="1">
                <a:solidFill>
                  <a:srgbClr val="142D4E"/>
                </a:solidFill>
                <a:latin typeface="Arial"/>
                <a:ea typeface="Arial"/>
                <a:cs typeface="Arial"/>
              </a:rPr>
              <a:t>Retrieve council guidance and planning evidence</a:t>
            </a:r>
          </a:p>
        </p:txBody>
      </p:sp>
      <p:sp>
        <p:nvSpPr>
          <p:cNvPr id="6" name="">
            <a:extLst xmlns:a="http://schemas.openxmlformats.org/drawingml/2006/main">
              <a:ext uri="{FF2B5EF4-FFF2-40B4-BE49-F238E27FC236}">
                <a16:creationId xmlns:a16="http://schemas.microsoft.com/office/drawing/2014/main" id="{4CAFF723-C357-4985-8A7E-FA188DF33C25}"/>
              </a:ext>
            </a:extLst>
          </p:cNvPr>
          <p:cNvSpPr>
            <a:spLocks xmlns:a="http://schemas.openxmlformats.org/drawingml/2006/main" noGrp="1"/>
          </p:cNvSpPr>
          <p:nvPr/>
        </p:nvSpPr>
        <p:spPr>
          <a:xfrm xmlns:a="http://schemas.openxmlformats.org/drawingml/2006/main">
            <a:off x="742950" y="39147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A9B90"/>
                </a:solidFill>
                <a:latin typeface="Arial"/>
                <a:ea typeface="Arial"/>
                <a:cs typeface="Arial"/>
              </a:defRPr>
            </a:pPr>
            <a:r>
              <a:rPr sz="2550" b="1">
                <a:solidFill>
                  <a:srgbClr val="0A9B90"/>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80E82054-77A1-43A7-A6DD-86C5CF589141}"/>
              </a:ext>
            </a:extLst>
          </p:cNvPr>
          <p:cNvSpPr>
            <a:spLocks xmlns:a="http://schemas.openxmlformats.org/drawingml/2006/main" noGrp="1"/>
          </p:cNvSpPr>
          <p:nvPr/>
        </p:nvSpPr>
        <p:spPr>
          <a:xfrm xmlns:a="http://schemas.openxmlformats.org/drawingml/2006/main">
            <a:off x="1666875" y="392430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2D4E"/>
                </a:solidFill>
                <a:latin typeface="Arial"/>
                <a:ea typeface="Arial"/>
                <a:cs typeface="Arial"/>
              </a:defRPr>
            </a:pPr>
            <a:r>
              <a:rPr sz="2400" b="1">
                <a:solidFill>
                  <a:srgbClr val="142D4E"/>
                </a:solidFill>
                <a:latin typeface="Arial"/>
                <a:ea typeface="Arial"/>
                <a:cs typeface="Arial"/>
              </a:rPr>
              <a:t>Review design checks with links to the sources</a:t>
            </a:r>
          </a:p>
        </p:txBody>
      </p:sp>
      <p:sp>
        <p:nvSpPr>
          <p:cNvPr id="8" name="">
            <a:extLst xmlns:a="http://schemas.openxmlformats.org/drawingml/2006/main">
              <a:ext uri="{FF2B5EF4-FFF2-40B4-BE49-F238E27FC236}">
                <a16:creationId xmlns:a16="http://schemas.microsoft.com/office/drawing/2014/main" id="{BD5985D9-A7A1-438E-AD6E-3F6C250D11E6}"/>
              </a:ext>
            </a:extLst>
          </p:cNvPr>
          <p:cNvSpPr>
            <a:spLocks xmlns:a="http://schemas.openxmlformats.org/drawingml/2006/main" noGrp="1"/>
          </p:cNvSpPr>
          <p:nvPr/>
        </p:nvSpPr>
        <p:spPr>
          <a:xfrm xmlns:a="http://schemas.openxmlformats.org/drawingml/2006/main">
            <a:off x="1666875" y="5114925"/>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7C"/>
                </a:solidFill>
                <a:latin typeface="Arial"/>
                <a:ea typeface="Arial"/>
                <a:cs typeface="Arial"/>
              </a:defRPr>
            </a:pPr>
            <a:r>
              <a:rPr sz="2025" b="0">
                <a:solidFill>
                  <a:srgbClr val="52647C"/>
                </a:solidFill>
                <a:latin typeface="Arial"/>
                <a:ea typeface="Arial"/>
                <a:cs typeface="Arial"/>
              </a:rPr>
              <a:t>Optional AI explains the evidence after retrieval</a:t>
            </a:r>
          </a:p>
        </p:txBody>
      </p:sp>
    </p:spTree>
    <p:extLst>
      <p:ext uri="{BB962C8B-B14F-4D97-AF65-F5344CB8AC3E}">
        <p14:creationId xmlns:p14="http://schemas.microsoft.com/office/powerpoint/2010/main" val="1415586129"/>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5A6A9A-A98C-4CA8-B621-E885DCAC4E49}"/>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D4E"/>
                </a:solidFill>
                <a:latin typeface="Arial"/>
                <a:ea typeface="Arial"/>
                <a:cs typeface="Arial"/>
              </a:defRPr>
            </a:pPr>
            <a:r>
              <a:rPr sz="3450" b="1">
                <a:solidFill>
                  <a:srgbClr val="142D4E"/>
                </a:solidFill>
                <a:latin typeface="Arial"/>
                <a:ea typeface="Arial"/>
                <a:cs typeface="Arial"/>
              </a:rPr>
              <a:t>The data behind the screen</a:t>
            </a:r>
          </a:p>
        </p:txBody>
      </p:sp>
      <p:sp>
        <p:nvSpPr>
          <p:cNvPr id="2" name="">
            <a:extLst xmlns:a="http://schemas.openxmlformats.org/drawingml/2006/main">
              <a:ext uri="{FF2B5EF4-FFF2-40B4-BE49-F238E27FC236}">
                <a16:creationId xmlns:a16="http://schemas.microsoft.com/office/drawing/2014/main" id="{5D8AAD44-A006-4D64-8AC8-4DC61852F7E6}"/>
              </a:ext>
            </a:extLst>
          </p:cNvPr>
          <p:cNvSpPr>
            <a:spLocks xmlns:a="http://schemas.openxmlformats.org/drawingml/2006/main" noGrp="1"/>
          </p:cNvSpPr>
          <p:nvPr/>
        </p:nvSpPr>
        <p:spPr>
          <a:xfrm xmlns:a="http://schemas.openxmlformats.org/drawingml/2006/main">
            <a:off x="742950" y="1762125"/>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4E"/>
                </a:solidFill>
                <a:latin typeface="Arial"/>
                <a:ea typeface="Arial"/>
                <a:cs typeface="Arial"/>
              </a:defRPr>
            </a:pPr>
            <a:r>
              <a:rPr sz="2175" b="1">
                <a:solidFill>
                  <a:srgbClr val="142D4E"/>
                </a:solidFill>
                <a:latin typeface="Arial"/>
                <a:ea typeface="Arial"/>
                <a:cs typeface="Arial"/>
              </a:rPr>
              <a:t>London planning CSV, 2022–2025</a:t>
            </a:r>
          </a:p>
        </p:txBody>
      </p:sp>
      <p:sp>
        <p:nvSpPr>
          <p:cNvPr id="3" name="">
            <a:extLst xmlns:a="http://schemas.openxmlformats.org/drawingml/2006/main">
              <a:ext uri="{FF2B5EF4-FFF2-40B4-BE49-F238E27FC236}">
                <a16:creationId xmlns:a16="http://schemas.microsoft.com/office/drawing/2014/main" id="{A4B092D8-D213-42E5-B268-D7B598630D6B}"/>
              </a:ext>
            </a:extLst>
          </p:cNvPr>
          <p:cNvSpPr>
            <a:spLocks xmlns:a="http://schemas.openxmlformats.org/drawingml/2006/main" noGrp="1"/>
          </p:cNvSpPr>
          <p:nvPr/>
        </p:nvSpPr>
        <p:spPr>
          <a:xfrm xmlns:a="http://schemas.openxmlformats.org/drawingml/2006/main">
            <a:off x="6048375" y="1762125"/>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7C"/>
                </a:solidFill>
                <a:latin typeface="Arial"/>
                <a:ea typeface="Arial"/>
                <a:cs typeface="Arial"/>
              </a:defRPr>
            </a:pPr>
            <a:r>
              <a:rPr sz="2025" b="0">
                <a:solidFill>
                  <a:srgbClr val="52647C"/>
                </a:solidFill>
                <a:latin typeface="Arial"/>
                <a:ea typeface="Arial"/>
                <a:cs typeface="Arial"/>
              </a:rPr>
              <a:t>Application descriptions and historical decisions</a:t>
            </a:r>
          </a:p>
        </p:txBody>
      </p:sp>
      <p:sp>
        <p:nvSpPr>
          <p:cNvPr id="4" name="">
            <a:extLst xmlns:a="http://schemas.openxmlformats.org/drawingml/2006/main">
              <a:ext uri="{FF2B5EF4-FFF2-40B4-BE49-F238E27FC236}">
                <a16:creationId xmlns:a16="http://schemas.microsoft.com/office/drawing/2014/main" id="{F7AA2602-15D7-4588-A48D-BB0AC9D10988}"/>
              </a:ext>
            </a:extLst>
          </p:cNvPr>
          <p:cNvSpPr>
            <a:spLocks xmlns:a="http://schemas.openxmlformats.org/drawingml/2006/main" noGrp="1"/>
          </p:cNvSpPr>
          <p:nvPr/>
        </p:nvSpPr>
        <p:spPr>
          <a:xfrm xmlns:a="http://schemas.openxmlformats.org/drawingml/2006/main">
            <a:off x="742950" y="2676525"/>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4E"/>
                </a:solidFill>
                <a:latin typeface="Arial"/>
                <a:ea typeface="Arial"/>
                <a:cs typeface="Arial"/>
              </a:defRPr>
            </a:pPr>
            <a:r>
              <a:rPr sz="2175" b="1">
                <a:solidFill>
                  <a:srgbClr val="142D4E"/>
                </a:solidFill>
                <a:latin typeface="Arial"/>
                <a:ea typeface="Arial"/>
                <a:cs typeface="Arial"/>
              </a:rPr>
              <a:t>GLA Local Plan ArcGIS</a:t>
            </a:r>
          </a:p>
        </p:txBody>
      </p:sp>
      <p:sp>
        <p:nvSpPr>
          <p:cNvPr id="5" name="">
            <a:extLst xmlns:a="http://schemas.openxmlformats.org/drawingml/2006/main">
              <a:ext uri="{FF2B5EF4-FFF2-40B4-BE49-F238E27FC236}">
                <a16:creationId xmlns:a16="http://schemas.microsoft.com/office/drawing/2014/main" id="{5CEE03A2-6F80-4BF5-95FA-208D4FB57937}"/>
              </a:ext>
            </a:extLst>
          </p:cNvPr>
          <p:cNvSpPr>
            <a:spLocks xmlns:a="http://schemas.openxmlformats.org/drawingml/2006/main" noGrp="1"/>
          </p:cNvSpPr>
          <p:nvPr/>
        </p:nvSpPr>
        <p:spPr>
          <a:xfrm xmlns:a="http://schemas.openxmlformats.org/drawingml/2006/main">
            <a:off x="6048375" y="2676525"/>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7C"/>
                </a:solidFill>
                <a:latin typeface="Arial"/>
                <a:ea typeface="Arial"/>
                <a:cs typeface="Arial"/>
              </a:defRPr>
            </a:pPr>
            <a:r>
              <a:rPr sz="2025" b="0">
                <a:solidFill>
                  <a:srgbClr val="52647C"/>
                </a:solidFill>
                <a:latin typeface="Arial"/>
                <a:ea typeface="Arial"/>
                <a:cs typeface="Arial"/>
              </a:rPr>
              <a:t>Published local-plan spatial layers</a:t>
            </a:r>
          </a:p>
        </p:txBody>
      </p:sp>
      <p:sp>
        <p:nvSpPr>
          <p:cNvPr id="6" name="">
            <a:extLst xmlns:a="http://schemas.openxmlformats.org/drawingml/2006/main">
              <a:ext uri="{FF2B5EF4-FFF2-40B4-BE49-F238E27FC236}">
                <a16:creationId xmlns:a16="http://schemas.microsoft.com/office/drawing/2014/main" id="{995D746D-52AB-4625-9A2B-57485C9DA766}"/>
              </a:ext>
            </a:extLst>
          </p:cNvPr>
          <p:cNvSpPr>
            <a:spLocks xmlns:a="http://schemas.openxmlformats.org/drawingml/2006/main" noGrp="1"/>
          </p:cNvSpPr>
          <p:nvPr/>
        </p:nvSpPr>
        <p:spPr>
          <a:xfrm xmlns:a="http://schemas.openxmlformats.org/drawingml/2006/main">
            <a:off x="742950" y="3590925"/>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4E"/>
                </a:solidFill>
                <a:latin typeface="Arial"/>
                <a:ea typeface="Arial"/>
                <a:cs typeface="Arial"/>
              </a:defRPr>
            </a:pPr>
            <a:r>
              <a:rPr sz="2175" b="1">
                <a:solidFill>
                  <a:srgbClr val="142D4E"/>
                </a:solidFill>
                <a:latin typeface="Arial"/>
                <a:ea typeface="Arial"/>
                <a:cs typeface="Arial"/>
              </a:rPr>
              <a:t>Planning Data API</a:t>
            </a:r>
          </a:p>
        </p:txBody>
      </p:sp>
      <p:sp>
        <p:nvSpPr>
          <p:cNvPr id="7" name="">
            <a:extLst xmlns:a="http://schemas.openxmlformats.org/drawingml/2006/main">
              <a:ext uri="{FF2B5EF4-FFF2-40B4-BE49-F238E27FC236}">
                <a16:creationId xmlns:a16="http://schemas.microsoft.com/office/drawing/2014/main" id="{9F88B36A-F3CA-4F1B-B9D4-90E086875823}"/>
              </a:ext>
            </a:extLst>
          </p:cNvPr>
          <p:cNvSpPr>
            <a:spLocks xmlns:a="http://schemas.openxmlformats.org/drawingml/2006/main" noGrp="1"/>
          </p:cNvSpPr>
          <p:nvPr/>
        </p:nvSpPr>
        <p:spPr>
          <a:xfrm xmlns:a="http://schemas.openxmlformats.org/drawingml/2006/main">
            <a:off x="6048375" y="3590925"/>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7C"/>
                </a:solidFill>
                <a:latin typeface="Arial"/>
                <a:ea typeface="Arial"/>
                <a:cs typeface="Arial"/>
              </a:defRPr>
            </a:pPr>
            <a:r>
              <a:rPr sz="2025" b="0">
                <a:solidFill>
                  <a:srgbClr val="52647C"/>
                </a:solidFill>
                <a:latin typeface="Arial"/>
                <a:ea typeface="Arial"/>
                <a:cs typeface="Arial"/>
              </a:rPr>
              <a:t>Council boundaries and optional constraint queries</a:t>
            </a:r>
          </a:p>
        </p:txBody>
      </p:sp>
      <p:sp>
        <p:nvSpPr>
          <p:cNvPr id="8" name="">
            <a:extLst xmlns:a="http://schemas.openxmlformats.org/drawingml/2006/main">
              <a:ext uri="{FF2B5EF4-FFF2-40B4-BE49-F238E27FC236}">
                <a16:creationId xmlns:a16="http://schemas.microsoft.com/office/drawing/2014/main" id="{FCD004D7-8474-4029-8243-609CEFE48B07}"/>
              </a:ext>
            </a:extLst>
          </p:cNvPr>
          <p:cNvSpPr>
            <a:spLocks xmlns:a="http://schemas.openxmlformats.org/drawingml/2006/main" noGrp="1"/>
          </p:cNvSpPr>
          <p:nvPr/>
        </p:nvSpPr>
        <p:spPr>
          <a:xfrm xmlns:a="http://schemas.openxmlformats.org/drawingml/2006/main">
            <a:off x="742950" y="4505325"/>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4E"/>
                </a:solidFill>
                <a:latin typeface="Arial"/>
                <a:ea typeface="Arial"/>
                <a:cs typeface="Arial"/>
              </a:defRPr>
            </a:pPr>
            <a:r>
              <a:rPr sz="2175" b="1">
                <a:solidFill>
                  <a:srgbClr val="142D4E"/>
                </a:solidFill>
                <a:latin typeface="Arial"/>
                <a:ea typeface="Arial"/>
                <a:cs typeface="Arial"/>
              </a:rPr>
              <a:t>Official council webpages and PDFs</a:t>
            </a:r>
          </a:p>
        </p:txBody>
      </p:sp>
      <p:sp>
        <p:nvSpPr>
          <p:cNvPr id="9" name="">
            <a:extLst xmlns:a="http://schemas.openxmlformats.org/drawingml/2006/main">
              <a:ext uri="{FF2B5EF4-FFF2-40B4-BE49-F238E27FC236}">
                <a16:creationId xmlns:a16="http://schemas.microsoft.com/office/drawing/2014/main" id="{96DE617D-4C5A-404D-9869-D73E5030236E}"/>
              </a:ext>
            </a:extLst>
          </p:cNvPr>
          <p:cNvSpPr>
            <a:spLocks xmlns:a="http://schemas.openxmlformats.org/drawingml/2006/main" noGrp="1"/>
          </p:cNvSpPr>
          <p:nvPr/>
        </p:nvSpPr>
        <p:spPr>
          <a:xfrm xmlns:a="http://schemas.openxmlformats.org/drawingml/2006/main">
            <a:off x="6048375" y="4505325"/>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7C"/>
                </a:solidFill>
                <a:latin typeface="Arial"/>
                <a:ea typeface="Arial"/>
                <a:cs typeface="Arial"/>
              </a:defRPr>
            </a:pPr>
            <a:r>
              <a:rPr sz="2025" b="0">
                <a:solidFill>
                  <a:srgbClr val="52647C"/>
                </a:solidFill>
                <a:latin typeface="Arial"/>
                <a:ea typeface="Arial"/>
                <a:cs typeface="Arial"/>
              </a:rPr>
              <a:t>Relevant policy text and application guidance</a:t>
            </a:r>
          </a:p>
        </p:txBody>
      </p:sp>
      <p:sp>
        <p:nvSpPr>
          <p:cNvPr id="10" name="">
            <a:extLst xmlns:a="http://schemas.openxmlformats.org/drawingml/2006/main">
              <a:ext uri="{FF2B5EF4-FFF2-40B4-BE49-F238E27FC236}">
                <a16:creationId xmlns:a16="http://schemas.microsoft.com/office/drawing/2014/main" id="{FD4959B7-4102-483A-92A0-F1F0DF410AA0}"/>
              </a:ext>
            </a:extLst>
          </p:cNvPr>
          <p:cNvSpPr>
            <a:spLocks xmlns:a="http://schemas.openxmlformats.org/drawingml/2006/main" noGrp="1"/>
          </p:cNvSpPr>
          <p:nvPr/>
        </p:nvSpPr>
        <p:spPr>
          <a:xfrm xmlns:a="http://schemas.openxmlformats.org/drawingml/2006/main">
            <a:off x="742950" y="59531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A9B90"/>
                </a:solidFill>
                <a:latin typeface="Arial"/>
                <a:ea typeface="Arial"/>
                <a:cs typeface="Arial"/>
              </a:defRPr>
            </a:pPr>
            <a:r>
              <a:rPr sz="1875" b="1">
                <a:solidFill>
                  <a:srgbClr val="0A9B90"/>
                </a:solidFill>
                <a:latin typeface="Arial"/>
                <a:ea typeface="Arial"/>
                <a:cs typeface="Arial"/>
              </a:rPr>
              <a:t>Council-text pilot: Wandsworth, Westminster and Lambeth</a:t>
            </a:r>
          </a:p>
        </p:txBody>
      </p:sp>
    </p:spTree>
    <p:extLst>
      <p:ext uri="{BB962C8B-B14F-4D97-AF65-F5344CB8AC3E}">
        <p14:creationId xmlns:p14="http://schemas.microsoft.com/office/powerpoint/2010/main" val="451050975"/>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212243-7965-4E4D-8B1E-C223E41EB6A1}"/>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D4E"/>
                </a:solidFill>
                <a:latin typeface="Arial"/>
                <a:ea typeface="Arial"/>
                <a:cs typeface="Arial"/>
              </a:defRPr>
            </a:pPr>
            <a:r>
              <a:rPr sz="3450" b="1">
                <a:solidFill>
                  <a:srgbClr val="142D4E"/>
                </a:solidFill>
                <a:latin typeface="Arial"/>
                <a:ea typeface="Arial"/>
                <a:cs typeface="Arial"/>
              </a:rPr>
              <a:t>Previous hackathon work</a:t>
            </a:r>
          </a:p>
        </p:txBody>
      </p:sp>
      <p:sp>
        <p:nvSpPr>
          <p:cNvPr id="2" name="">
            <a:extLst xmlns:a="http://schemas.openxmlformats.org/drawingml/2006/main">
              <a:ext uri="{FF2B5EF4-FFF2-40B4-BE49-F238E27FC236}">
                <a16:creationId xmlns:a16="http://schemas.microsoft.com/office/drawing/2014/main" id="{CDAC274D-49C4-4CB7-89E8-FE1C478D2A2D}"/>
              </a:ext>
            </a:extLst>
          </p:cNvPr>
          <p:cNvSpPr>
            <a:spLocks xmlns:a="http://schemas.openxmlformats.org/drawingml/2006/main" noGrp="1"/>
          </p:cNvSpPr>
          <p:nvPr/>
        </p:nvSpPr>
        <p:spPr>
          <a:xfrm xmlns:a="http://schemas.openxmlformats.org/drawingml/2006/main">
            <a:off x="742950" y="1704975"/>
            <a:ext cx="419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A9B90"/>
                </a:solidFill>
                <a:latin typeface="Arial"/>
                <a:ea typeface="Arial"/>
                <a:cs typeface="Arial"/>
              </a:defRPr>
            </a:pPr>
            <a:r>
              <a:rPr sz="2925" b="1">
                <a:solidFill>
                  <a:srgbClr val="0A9B90"/>
                </a:solidFill>
                <a:latin typeface="Arial"/>
                <a:ea typeface="Arial"/>
                <a:cs typeface="Arial"/>
              </a:rPr>
              <a:t>0-the-spike</a:t>
            </a:r>
          </a:p>
        </p:txBody>
      </p:sp>
      <p:sp>
        <p:nvSpPr>
          <p:cNvPr id="3" name="">
            <a:extLst xmlns:a="http://schemas.openxmlformats.org/drawingml/2006/main">
              <a:ext uri="{FF2B5EF4-FFF2-40B4-BE49-F238E27FC236}">
                <a16:creationId xmlns:a16="http://schemas.microsoft.com/office/drawing/2014/main" id="{2CD3EA34-3D1B-4C1F-B573-FAC1C0B0DEAB}"/>
              </a:ext>
            </a:extLst>
          </p:cNvPr>
          <p:cNvSpPr>
            <a:spLocks xmlns:a="http://schemas.openxmlformats.org/drawingml/2006/main" noGrp="1"/>
          </p:cNvSpPr>
          <p:nvPr/>
        </p:nvSpPr>
        <p:spPr>
          <a:xfrm xmlns:a="http://schemas.openxmlformats.org/drawingml/2006/main">
            <a:off x="5095875" y="1695450"/>
            <a:ext cx="6286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D4E"/>
                </a:solidFill>
                <a:latin typeface="Arial"/>
                <a:ea typeface="Arial"/>
                <a:cs typeface="Arial"/>
              </a:defRPr>
            </a:pPr>
            <a:r>
              <a:rPr sz="2175" b="0">
                <a:solidFill>
                  <a:srgbClr val="142D4E"/>
                </a:solidFill>
                <a:latin typeface="Arial"/>
                <a:ea typeface="Arial"/>
                <a:cs typeface="Arial"/>
              </a:rPr>
              <a:t>Adapted comparable-case retrieval</a:t>
            </a:r>
          </a:p>
          <a:p xmlns:a="http://schemas.openxmlformats.org/drawingml/2006/main">
            <a:pPr>
              <a:defRPr sz="2175" b="0">
                <a:solidFill>
                  <a:srgbClr val="142D4E"/>
                </a:solidFill>
                <a:latin typeface="Arial"/>
                <a:ea typeface="Arial"/>
                <a:cs typeface="Arial"/>
              </a:defRPr>
            </a:pPr>
            <a:r>
              <a:rPr sz="2175" b="0">
                <a:solidFill>
                  <a:srgbClr val="142D4E"/>
                </a:solidFill>
                <a:latin typeface="Arial"/>
                <a:ea typeface="Arial"/>
                <a:cs typeface="Arial"/>
              </a:rPr>
              <a:t>using TF-IDF and cosine similarity</a:t>
            </a:r>
          </a:p>
        </p:txBody>
      </p:sp>
      <p:sp>
        <p:nvSpPr>
          <p:cNvPr id="4" name="">
            <a:extLst xmlns:a="http://schemas.openxmlformats.org/drawingml/2006/main">
              <a:ext uri="{FF2B5EF4-FFF2-40B4-BE49-F238E27FC236}">
                <a16:creationId xmlns:a16="http://schemas.microsoft.com/office/drawing/2014/main" id="{E688D97E-C1D3-4DC0-A405-B11275826A94}"/>
              </a:ext>
            </a:extLst>
          </p:cNvPr>
          <p:cNvSpPr>
            <a:spLocks xmlns:a="http://schemas.openxmlformats.org/drawingml/2006/main" noGrp="1"/>
          </p:cNvSpPr>
          <p:nvPr/>
        </p:nvSpPr>
        <p:spPr>
          <a:xfrm xmlns:a="http://schemas.openxmlformats.org/drawingml/2006/main">
            <a:off x="742950" y="3076575"/>
            <a:ext cx="419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D4E"/>
                </a:solidFill>
                <a:latin typeface="Arial"/>
                <a:ea typeface="Arial"/>
                <a:cs typeface="Arial"/>
              </a:defRPr>
            </a:pPr>
            <a:r>
              <a:rPr sz="2550" b="1">
                <a:solidFill>
                  <a:srgbClr val="142D4E"/>
                </a:solidFill>
                <a:latin typeface="Arial"/>
                <a:ea typeface="Arial"/>
                <a:cs typeface="Arial"/>
              </a:rPr>
              <a:t>ConfidentPlanner</a:t>
            </a:r>
          </a:p>
        </p:txBody>
      </p:sp>
      <p:sp>
        <p:nvSpPr>
          <p:cNvPr id="5" name="">
            <a:extLst xmlns:a="http://schemas.openxmlformats.org/drawingml/2006/main">
              <a:ext uri="{FF2B5EF4-FFF2-40B4-BE49-F238E27FC236}">
                <a16:creationId xmlns:a16="http://schemas.microsoft.com/office/drawing/2014/main" id="{4E8AD3D3-B3F9-46EE-98CD-CCCDF7CFB40E}"/>
              </a:ext>
            </a:extLst>
          </p:cNvPr>
          <p:cNvSpPr>
            <a:spLocks xmlns:a="http://schemas.openxmlformats.org/drawingml/2006/main" noGrp="1"/>
          </p:cNvSpPr>
          <p:nvPr/>
        </p:nvSpPr>
        <p:spPr>
          <a:xfrm xmlns:a="http://schemas.openxmlformats.org/drawingml/2006/main">
            <a:off x="5095875" y="3067050"/>
            <a:ext cx="628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47C"/>
                </a:solidFill>
                <a:latin typeface="Arial"/>
                <a:ea typeface="Arial"/>
                <a:cs typeface="Arial"/>
              </a:defRPr>
            </a:pPr>
            <a:r>
              <a:rPr sz="2175" b="0">
                <a:solidFill>
                  <a:srgbClr val="52647C"/>
                </a:solidFill>
                <a:latin typeface="Arial"/>
                <a:ea typeface="Arial"/>
                <a:cs typeface="Arial"/>
              </a:rPr>
              <a:t>Reference for spatial checks and nearby applications</a:t>
            </a:r>
          </a:p>
        </p:txBody>
      </p:sp>
      <p:sp>
        <p:nvSpPr>
          <p:cNvPr id="6" name="">
            <a:extLst xmlns:a="http://schemas.openxmlformats.org/drawingml/2006/main">
              <a:ext uri="{FF2B5EF4-FFF2-40B4-BE49-F238E27FC236}">
                <a16:creationId xmlns:a16="http://schemas.microsoft.com/office/drawing/2014/main" id="{075F407E-A938-45AB-AB84-1A77A7B4F631}"/>
              </a:ext>
            </a:extLst>
          </p:cNvPr>
          <p:cNvSpPr>
            <a:spLocks xmlns:a="http://schemas.openxmlformats.org/drawingml/2006/main" noGrp="1"/>
          </p:cNvSpPr>
          <p:nvPr/>
        </p:nvSpPr>
        <p:spPr>
          <a:xfrm xmlns:a="http://schemas.openxmlformats.org/drawingml/2006/main">
            <a:off x="742950" y="4314825"/>
            <a:ext cx="419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D4E"/>
                </a:solidFill>
                <a:latin typeface="Arial"/>
                <a:ea typeface="Arial"/>
                <a:cs typeface="Arial"/>
              </a:defRPr>
            </a:pPr>
            <a:r>
              <a:rPr sz="2550" b="1">
                <a:solidFill>
                  <a:srgbClr val="142D4E"/>
                </a:solidFill>
                <a:latin typeface="Arial"/>
                <a:ea typeface="Arial"/>
                <a:cs typeface="Arial"/>
              </a:rPr>
              <a:t>0-RIBS</a:t>
            </a:r>
          </a:p>
        </p:txBody>
      </p:sp>
      <p:sp>
        <p:nvSpPr>
          <p:cNvPr id="7" name="">
            <a:extLst xmlns:a="http://schemas.openxmlformats.org/drawingml/2006/main">
              <a:ext uri="{FF2B5EF4-FFF2-40B4-BE49-F238E27FC236}">
                <a16:creationId xmlns:a16="http://schemas.microsoft.com/office/drawing/2014/main" id="{14ECF458-7FD6-4986-89AA-F2100476C1F1}"/>
              </a:ext>
            </a:extLst>
          </p:cNvPr>
          <p:cNvSpPr>
            <a:spLocks xmlns:a="http://schemas.openxmlformats.org/drawingml/2006/main" noGrp="1"/>
          </p:cNvSpPr>
          <p:nvPr/>
        </p:nvSpPr>
        <p:spPr>
          <a:xfrm xmlns:a="http://schemas.openxmlformats.org/drawingml/2006/main">
            <a:off x="5095875" y="4324350"/>
            <a:ext cx="628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47C"/>
                </a:solidFill>
                <a:latin typeface="Arial"/>
                <a:ea typeface="Arial"/>
                <a:cs typeface="Arial"/>
              </a:defRPr>
            </a:pPr>
            <a:r>
              <a:rPr sz="2175" b="0">
                <a:solidFill>
                  <a:srgbClr val="52647C"/>
                </a:solidFill>
                <a:latin typeface="Arial"/>
                <a:ea typeface="Arial"/>
                <a:cs typeface="Arial"/>
              </a:rPr>
              <a:t>Reference for data validation and caching</a:t>
            </a:r>
          </a:p>
        </p:txBody>
      </p:sp>
      <p:sp>
        <p:nvSpPr>
          <p:cNvPr id="8" name="">
            <a:extLst xmlns:a="http://schemas.openxmlformats.org/drawingml/2006/main">
              <a:ext uri="{FF2B5EF4-FFF2-40B4-BE49-F238E27FC236}">
                <a16:creationId xmlns:a16="http://schemas.microsoft.com/office/drawing/2014/main" id="{03E55ED9-06A4-4F07-8E55-6B4BF1C15186}"/>
              </a:ext>
            </a:extLst>
          </p:cNvPr>
          <p:cNvSpPr>
            <a:spLocks xmlns:a="http://schemas.openxmlformats.org/drawingml/2006/main" noGrp="1"/>
          </p:cNvSpPr>
          <p:nvPr/>
        </p:nvSpPr>
        <p:spPr>
          <a:xfrm xmlns:a="http://schemas.openxmlformats.org/drawingml/2006/main">
            <a:off x="742950" y="584835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A9B90"/>
                </a:solidFill>
                <a:latin typeface="Arial"/>
                <a:ea typeface="Arial"/>
                <a:cs typeface="Arial"/>
              </a:defRPr>
            </a:pPr>
            <a:r>
              <a:rPr sz="1725" b="1">
                <a:solidFill>
                  <a:srgbClr val="0A9B90"/>
                </a:solidFill>
                <a:latin typeface="Arial"/>
                <a:ea typeface="Arial"/>
                <a:cs typeface="Arial"/>
              </a:rPr>
              <a:t>Independent implementations for reference-only code. No inherited approval model.</a:t>
            </a:r>
          </a:p>
        </p:txBody>
      </p:sp>
    </p:spTree>
    <p:extLst>
      <p:ext uri="{BB962C8B-B14F-4D97-AF65-F5344CB8AC3E}">
        <p14:creationId xmlns:p14="http://schemas.microsoft.com/office/powerpoint/2010/main" val="1843277893"/>
      </p:ext>
    </p:extLst>
  </p:cSld>
</p:sld>
</file>

<file path=ppt/slides/slide5.xml><?xml version="1.0" encoding="utf-8"?>
<p:sld xmlns:p="http://schemas.openxmlformats.org/presentationml/2006/main">
  <p:cSld>
    <p:bg>
      <p:bgPr>
        <a:solidFill xmlns:a="http://schemas.openxmlformats.org/drawingml/2006/main">
          <a:srgbClr val="142D4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6629E4-62A3-4CA2-B377-88B4D1C582D0}"/>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Live demo</a:t>
            </a:r>
          </a:p>
        </p:txBody>
      </p:sp>
      <p:sp>
        <p:nvSpPr>
          <p:cNvPr id="2" name="">
            <a:extLst xmlns:a="http://schemas.openxmlformats.org/drawingml/2006/main">
              <a:ext uri="{FF2B5EF4-FFF2-40B4-BE49-F238E27FC236}">
                <a16:creationId xmlns:a16="http://schemas.microsoft.com/office/drawing/2014/main" id="{F6419495-670F-4C17-91A6-CCF9AD0080A8}"/>
              </a:ext>
            </a:extLst>
          </p:cNvPr>
          <p:cNvSpPr>
            <a:spLocks xmlns:a="http://schemas.openxmlformats.org/drawingml/2006/main" noGrp="1"/>
          </p:cNvSpPr>
          <p:nvPr/>
        </p:nvSpPr>
        <p:spPr>
          <a:xfrm xmlns:a="http://schemas.openxmlformats.org/drawingml/2006/main">
            <a:off x="762000" y="20574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57D3C4"/>
                </a:solidFill>
                <a:latin typeface="Arial"/>
                <a:ea typeface="Arial"/>
                <a:cs typeface="Arial"/>
              </a:defRPr>
            </a:pPr>
            <a:r>
              <a:rPr sz="3600" b="1">
                <a:solidFill>
                  <a:srgbClr val="57D3C4"/>
                </a:solidFill>
                <a:latin typeface="Arial"/>
                <a:ea typeface="Arial"/>
                <a:cs typeface="Arial"/>
              </a:rPr>
              <a:t>A rear extension and two new homes</a:t>
            </a:r>
          </a:p>
        </p:txBody>
      </p:sp>
      <p:sp>
        <p:nvSpPr>
          <p:cNvPr id="3" name="">
            <a:extLst xmlns:a="http://schemas.openxmlformats.org/drawingml/2006/main">
              <a:ext uri="{FF2B5EF4-FFF2-40B4-BE49-F238E27FC236}">
                <a16:creationId xmlns:a16="http://schemas.microsoft.com/office/drawing/2014/main" id="{14E377B1-802D-4A50-AC87-AC554B40B8BD}"/>
              </a:ext>
            </a:extLst>
          </p:cNvPr>
          <p:cNvSpPr>
            <a:spLocks xmlns:a="http://schemas.openxmlformats.org/drawingml/2006/main" noGrp="1"/>
          </p:cNvSpPr>
          <p:nvPr/>
        </p:nvSpPr>
        <p:spPr>
          <a:xfrm xmlns:a="http://schemas.openxmlformats.org/drawingml/2006/main">
            <a:off x="762000" y="3419475"/>
            <a:ext cx="1028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Which council guidance matters for this proposal?</a:t>
            </a:r>
          </a:p>
        </p:txBody>
      </p:sp>
      <p:sp>
        <p:nvSpPr>
          <p:cNvPr id="4" name="">
            <a:extLst xmlns:a="http://schemas.openxmlformats.org/drawingml/2006/main">
              <a:ext uri="{FF2B5EF4-FFF2-40B4-BE49-F238E27FC236}">
                <a16:creationId xmlns:a16="http://schemas.microsoft.com/office/drawing/2014/main" id="{FEB22EDF-1D6C-4540-9CC9-049797D3BA7F}"/>
              </a:ext>
            </a:extLst>
          </p:cNvPr>
          <p:cNvSpPr>
            <a:spLocks xmlns:a="http://schemas.openxmlformats.org/drawingml/2006/main" noGrp="1"/>
          </p:cNvSpPr>
          <p:nvPr/>
        </p:nvSpPr>
        <p:spPr>
          <a:xfrm xmlns:a="http://schemas.openxmlformats.org/drawingml/2006/main">
            <a:off x="762000" y="4638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DC3DB"/>
                </a:solidFill>
                <a:latin typeface="Arial"/>
                <a:ea typeface="Arial"/>
                <a:cs typeface="Arial"/>
              </a:defRPr>
            </a:pPr>
            <a:r>
              <a:rPr sz="2100" b="0">
                <a:solidFill>
                  <a:srgbClr val="ADC3DB"/>
                </a:solidFill>
                <a:latin typeface="Arial"/>
                <a:ea typeface="Arial"/>
                <a:cs typeface="Arial"/>
              </a:rPr>
              <a:t>Location search, evidence and practical next checks</a:t>
            </a:r>
          </a:p>
        </p:txBody>
      </p:sp>
      <p:sp>
        <p:nvSpPr>
          <p:cNvPr id="5" name="">
            <a:extLst xmlns:a="http://schemas.openxmlformats.org/drawingml/2006/main">
              <a:ext uri="{FF2B5EF4-FFF2-40B4-BE49-F238E27FC236}">
                <a16:creationId xmlns:a16="http://schemas.microsoft.com/office/drawing/2014/main" id="{1323C0D6-9C0B-4BA6-8EC2-4FC439988253}"/>
              </a:ext>
            </a:extLst>
          </p:cNvPr>
          <p:cNvSpPr>
            <a:spLocks xmlns:a="http://schemas.openxmlformats.org/drawingml/2006/main" noGrp="1"/>
          </p:cNvSpPr>
          <p:nvPr/>
        </p:nvSpPr>
        <p:spPr>
          <a:xfrm xmlns:a="http://schemas.openxmlformats.org/drawingml/2006/main">
            <a:off x="762000" y="60102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Preliminary screening. Council verification and professional advice remain essential.</a:t>
            </a:r>
          </a:p>
        </p:txBody>
      </p:sp>
    </p:spTree>
    <p:extLst>
      <p:ext uri="{BB962C8B-B14F-4D97-AF65-F5344CB8AC3E}">
        <p14:creationId xmlns:p14="http://schemas.microsoft.com/office/powerpoint/2010/main" val="15089775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2026-09-26T16:03:36.5960000Z</dcterms:created>
  <dcterms:modified xsi:type="dcterms:W3CDTF">2026-09-26T16:03:36.5960000Z</dcterms:modified>
</coreProperties>
</file>