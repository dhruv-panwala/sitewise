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fc0f79f8524911" /><Relationship Type="http://schemas.openxmlformats.org/officeDocument/2006/relationships/extended-properties" Target="/docProps/app.xml" Id="R7c5750f4b7f24f25" /><Relationship Type="http://schemas.openxmlformats.org/officeDocument/2006/relationships/officeDocument" Target="/ppt/presentation.xml" Id="R7dec2958e3fa4dcd" /></Relationships>
</file>

<file path=ppt/presentation.xml><?xml version="1.0" encoding="utf-8"?>
<p:presentation xmlns:p="http://schemas.openxmlformats.org/presentationml/2006/main">
  <p:sldMasterIdLst>
    <p:sldMasterId xmlns:r="http://schemas.openxmlformats.org/officeDocument/2006/relationships" id="2147483648" r:id="Rbc898a6da32f4258"/>
  </p:sldMasterIdLst>
  <p:notesMasterIdLst>
    <p:notesMasterId xmlns:r="http://schemas.openxmlformats.org/officeDocument/2006/relationships" r:id="R54ba8eb97cb14b7d"/>
  </p:notesMasterIdLst>
  <p:sldIdLst>
    <p:sldId xmlns:r="http://schemas.openxmlformats.org/officeDocument/2006/relationships" id="256" r:id="R74dae5f6fbb64388"/>
    <p:sldId xmlns:r="http://schemas.openxmlformats.org/officeDocument/2006/relationships" id="257" r:id="Rf9ee477802944fbf"/>
    <p:sldId xmlns:r="http://schemas.openxmlformats.org/officeDocument/2006/relationships" id="258" r:id="R0066fba681874b6b"/>
    <p:sldId xmlns:r="http://schemas.openxmlformats.org/officeDocument/2006/relationships" id="259" r:id="R2676424614c845e9"/>
    <p:sldId xmlns:r="http://schemas.openxmlformats.org/officeDocument/2006/relationships" id="260" r:id="Rf475fa0e522546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d2ced910f54caf" /><Relationship Type="http://schemas.openxmlformats.org/officeDocument/2006/relationships/slideMaster" Target="/ppt/slideMasters/slideMaster1.xml" Id="Rbc898a6da32f4258" /><Relationship Type="http://schemas.openxmlformats.org/officeDocument/2006/relationships/notesMaster" Target="/ppt/notesMasters/notesMaster1.xml" Id="R54ba8eb97cb14b7d" /><Relationship Type="http://schemas.openxmlformats.org/officeDocument/2006/relationships/presProps" Target="/ppt/presProps.xml" Id="R80b1a1fe0bf14b06" /><Relationship Type="http://schemas.openxmlformats.org/officeDocument/2006/relationships/tableStyles" Target="/ppt/tableStyles.xml" Id="R0f34c4a7066b49af" /><Relationship Type="http://schemas.openxmlformats.org/officeDocument/2006/relationships/slide" Target="/ppt/slides/slide1.xml" Id="R74dae5f6fbb64388" /><Relationship Type="http://schemas.openxmlformats.org/officeDocument/2006/relationships/slide" Target="/ppt/slides/slide2.xml" Id="Rf9ee477802944fbf" /><Relationship Type="http://schemas.openxmlformats.org/officeDocument/2006/relationships/slide" Target="/ppt/slides/slide3.xml" Id="R0066fba681874b6b" /><Relationship Type="http://schemas.openxmlformats.org/officeDocument/2006/relationships/slide" Target="/ppt/slides/slide4.xml" Id="R2676424614c845e9" /><Relationship Type="http://schemas.openxmlformats.org/officeDocument/2006/relationships/slide" Target="/ppt/slides/slide5.xml" Id="Rf475fa0e5225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87a0c42afe42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17a151e6e046fe" /><Relationship Type="http://schemas.openxmlformats.org/officeDocument/2006/relationships/notesMaster" Target="/ppt/notesMasters/notesMaster1.xml" Id="Ra2d46a05b4ea41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70a1a868cc4f4d" /><Relationship Type="http://schemas.openxmlformats.org/officeDocument/2006/relationships/notesMaster" Target="/ppt/notesMasters/notesMaster1.xml" Id="Rdb0c00f7f8d146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df9d085085476f" /><Relationship Type="http://schemas.openxmlformats.org/officeDocument/2006/relationships/notesMaster" Target="/ppt/notesMasters/notesMaster1.xml" Id="R144bdde8a2f541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e3fab01a284a63" /><Relationship Type="http://schemas.openxmlformats.org/officeDocument/2006/relationships/notesMaster" Target="/ppt/notesMasters/notesMaster1.xml" Id="R71de127e98ae47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4c7b457a464903" /><Relationship Type="http://schemas.openxmlformats.org/officeDocument/2006/relationships/notesMaster" Target="/ppt/notesMasters/notesMaster1.xml" Id="R224d8e92b4f641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SiteWise UK helps users screen a site before investing time in a planning application. I will give the context in 90 seconds, then show the live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early planning research is fragmented. A user has to join planning history, spatial constraints and policy evidence. SiteWise makes those checks visible in one screen and keeps uncertainty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the first audience is homeowners and small developers, with consultants and architects as professional users. Important caveat: SiteWise supports early investigation, not a planning determination.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reuse: the supplied CSV anchors planning history. Public Planning Data and GLA services add spatial context, while official council pages and PDFs support policy evidence. We drew on local reference projects for similarity, caching, validation and spatial patterns. Some repositories are reference-only pending licence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Now I will use the live demo. I will select a location and describe a rear extension with two new homes. I will show that the output prioritises evidence and limitations, not a promise of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c8332a9d304d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1504c80e8a485b" /><Relationship Type="http://schemas.openxmlformats.org/officeDocument/2006/relationships/slideLayout" Target="/ppt/slideLayouts/slideLayout1.xml" Id="Rd96884a019164b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6884a019164b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8271cc67964065" /><Relationship Type="http://schemas.openxmlformats.org/officeDocument/2006/relationships/notesSlide" Target="/ppt/notesSlides/notesSlide1.xml" Id="Rd762927c563f4c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f138f770e947d2" /><Relationship Type="http://schemas.openxmlformats.org/officeDocument/2006/relationships/notesSlide" Target="/ppt/notesSlides/notesSlide2.xml" Id="R87d031fc010246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99823dac9248f1" /><Relationship Type="http://schemas.openxmlformats.org/officeDocument/2006/relationships/notesSlide" Target="/ppt/notesSlides/notesSlide3.xml" Id="Rf79df1491bce48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9972d9922844ca" /><Relationship Type="http://schemas.openxmlformats.org/officeDocument/2006/relationships/notesSlide" Target="/ppt/notesSlides/notesSlide4.xml" Id="Rbcb0f013dfe140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1f715739934463" /><Relationship Type="http://schemas.openxmlformats.org/officeDocument/2006/relationships/notesSlide" Target="/ppt/notesSlides/notesSlide5.xml" Id="R17c97a7236224d78" /></Relationships>
</file>

<file path=ppt/slides/slide1.xml><?xml version="1.0" encoding="utf-8"?>
<p:sld xmlns:p="http://schemas.openxmlformats.org/presentationml/2006/main">
  <p:cSld>
    <p:bg>
      <p:bgPr>
        <a:solidFill xmlns:a="http://schemas.openxmlformats.org/drawingml/2006/main">
          <a:srgbClr val="081D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810A31-CB49-4840-9D7F-082A8BC50D62}"/>
              </a:ext>
            </a:extLst>
          </p:cNvPr>
          <p:cNvSpPr>
            <a:spLocks xmlns:a="http://schemas.openxmlformats.org/drawingml/2006/main" noGrp="1"/>
          </p:cNvSpPr>
          <p:nvPr/>
        </p:nvSpPr>
        <p:spPr>
          <a:xfrm xmlns:a="http://schemas.openxmlformats.org/drawingml/2006/main">
            <a:off x="685800" y="790575"/>
            <a:ext cx="1466850" cy="66675"/>
          </a:xfrm>
          <a:prstGeom xmlns:a="http://schemas.openxmlformats.org/drawingml/2006/main" prst="rect">
            <a:avLst/>
          </a:prstGeom>
          <a:solidFill xmlns:a="http://schemas.openxmlformats.org/drawingml/2006/main">
            <a:srgbClr val="CBEA63"/>
          </a:solidFill>
          <a:ln xmlns:a="http://schemas.openxmlformats.org/drawingml/2006/main" w="0">
            <a:solidFill>
              <a:srgbClr val="CBEA63"/>
            </a:solidFill>
          </a:ln>
        </p:spPr>
      </p:sp>
      <p:sp>
        <p:nvSpPr>
          <p:cNvPr id="2" name="">
            <a:extLst xmlns:a="http://schemas.openxmlformats.org/drawingml/2006/main">
              <a:ext uri="{FF2B5EF4-FFF2-40B4-BE49-F238E27FC236}">
                <a16:creationId xmlns:a16="http://schemas.microsoft.com/office/drawing/2014/main" id="{8240F058-CF4A-4B9D-9F33-56277924A91E}"/>
              </a:ext>
            </a:extLst>
          </p:cNvPr>
          <p:cNvSpPr>
            <a:spLocks xmlns:a="http://schemas.openxmlformats.org/drawingml/2006/main" noGrp="1"/>
          </p:cNvSpPr>
          <p:nvPr/>
        </p:nvSpPr>
        <p:spPr>
          <a:xfrm xmlns:a="http://schemas.openxmlformats.org/drawingml/2006/main">
            <a:off x="685800" y="1257300"/>
            <a:ext cx="919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SiteWise UK</a:t>
            </a:r>
          </a:p>
        </p:txBody>
      </p:sp>
      <p:sp>
        <p:nvSpPr>
          <p:cNvPr id="3" name="">
            <a:extLst xmlns:a="http://schemas.openxmlformats.org/drawingml/2006/main">
              <a:ext uri="{FF2B5EF4-FFF2-40B4-BE49-F238E27FC236}">
                <a16:creationId xmlns:a16="http://schemas.microsoft.com/office/drawing/2014/main" id="{A78914ED-14C5-4664-9E5A-06DF3BF2EB3B}"/>
              </a:ext>
            </a:extLst>
          </p:cNvPr>
          <p:cNvSpPr>
            <a:spLocks xmlns:a="http://schemas.openxmlformats.org/drawingml/2006/main" noGrp="1"/>
          </p:cNvSpPr>
          <p:nvPr/>
        </p:nvSpPr>
        <p:spPr>
          <a:xfrm xmlns:a="http://schemas.openxmlformats.org/drawingml/2006/main">
            <a:off x="685800" y="2952750"/>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325" b="0">
                <a:solidFill>
                  <a:srgbClr val="E4EFF0"/>
                </a:solidFill>
                <a:latin typeface="Arial"/>
                <a:ea typeface="Arial"/>
                <a:cs typeface="Arial"/>
              </a:defRPr>
            </a:pPr>
            <a:r>
              <a:rPr sz="2325" b="0">
                <a:solidFill>
                  <a:srgbClr val="E4EFF0"/>
                </a:solidFill>
                <a:latin typeface="Arial"/>
                <a:ea typeface="Arial"/>
                <a:cs typeface="Arial"/>
              </a:rPr>
              <a:t>A map-first planning screen for early property and development decisions</a:t>
            </a:r>
          </a:p>
        </p:txBody>
      </p:sp>
      <p:sp>
        <p:nvSpPr>
          <p:cNvPr id="4" name="">
            <a:extLst xmlns:a="http://schemas.openxmlformats.org/drawingml/2006/main">
              <a:ext uri="{FF2B5EF4-FFF2-40B4-BE49-F238E27FC236}">
                <a16:creationId xmlns:a16="http://schemas.microsoft.com/office/drawing/2014/main" id="{CCD3CF92-9B3C-4C32-BE58-88748DA3DAA8}"/>
              </a:ext>
            </a:extLst>
          </p:cNvPr>
          <p:cNvSpPr>
            <a:spLocks xmlns:a="http://schemas.openxmlformats.org/drawingml/2006/main" noGrp="1"/>
          </p:cNvSpPr>
          <p:nvPr/>
        </p:nvSpPr>
        <p:spPr>
          <a:xfrm xmlns:a="http://schemas.openxmlformats.org/drawingml/2006/main">
            <a:off x="685800" y="53149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1">
                <a:solidFill>
                  <a:srgbClr val="CBEA63"/>
                </a:solidFill>
                <a:latin typeface="Arial"/>
                <a:ea typeface="Arial"/>
                <a:cs typeface="Arial"/>
              </a:defRPr>
            </a:pPr>
            <a:r>
              <a:rPr sz="1350" b="1">
                <a:solidFill>
                  <a:srgbClr val="CBEA63"/>
                </a:solidFill>
                <a:latin typeface="Arial"/>
                <a:ea typeface="Arial"/>
                <a:cs typeface="Arial"/>
              </a:rPr>
              <a:t>90-second introduction, followed by a live demo</a:t>
            </a:r>
          </a:p>
        </p:txBody>
      </p:sp>
      <p:sp>
        <p:nvSpPr>
          <p:cNvPr id="5" name="">
            <a:extLst xmlns:a="http://schemas.openxmlformats.org/drawingml/2006/main">
              <a:ext uri="{FF2B5EF4-FFF2-40B4-BE49-F238E27FC236}">
                <a16:creationId xmlns:a16="http://schemas.microsoft.com/office/drawing/2014/main" id="{9C36DE1F-4BB8-469A-9905-6E77ED4E4C79}"/>
              </a:ext>
            </a:extLst>
          </p:cNvPr>
          <p:cNvSpPr>
            <a:spLocks xmlns:a="http://schemas.openxmlformats.org/drawingml/2006/main" noGrp="1"/>
          </p:cNvSpPr>
          <p:nvPr/>
        </p:nvSpPr>
        <p:spPr>
          <a:xfrm xmlns:a="http://schemas.openxmlformats.org/drawingml/2006/main">
            <a:off x="685800" y="6362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825" b="1">
                <a:solidFill>
                  <a:srgbClr val="E4EFF0"/>
                </a:solidFill>
                <a:latin typeface="Arial"/>
                <a:ea typeface="Arial"/>
                <a:cs typeface="Arial"/>
              </a:defRPr>
            </a:pPr>
            <a:r>
              <a:rPr sz="825" b="1">
                <a:solidFill>
                  <a:srgbClr val="E4EFF0"/>
                </a:solidFill>
                <a:latin typeface="Arial"/>
                <a:ea typeface="Arial"/>
                <a:cs typeface="Arial"/>
              </a:rPr>
              <a:t>DATA HOUSE DATA HACKATHON</a:t>
            </a:r>
          </a:p>
        </p:txBody>
      </p:sp>
    </p:spTree>
    <p:extLst>
      <p:ext uri="{BB962C8B-B14F-4D97-AF65-F5344CB8AC3E}">
        <p14:creationId xmlns:p14="http://schemas.microsoft.com/office/powerpoint/2010/main" val="110741251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3CD440-5A8B-43E6-88E5-C147C9905E4D}"/>
              </a:ext>
            </a:extLst>
          </p:cNvPr>
          <p:cNvSpPr>
            <a:spLocks xmlns:a="http://schemas.openxmlformats.org/drawingml/2006/main" noGrp="1"/>
          </p:cNvSpPr>
          <p:nvPr/>
        </p:nvSpPr>
        <p:spPr>
          <a:xfrm xmlns:a="http://schemas.openxmlformats.org/drawingml/2006/main">
            <a:off x="685800" y="59055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850" b="1">
                <a:solidFill>
                  <a:srgbClr val="102A3A"/>
                </a:solidFill>
                <a:latin typeface="Arial"/>
                <a:ea typeface="Arial"/>
                <a:cs typeface="Arial"/>
              </a:defRPr>
            </a:pPr>
            <a:r>
              <a:rPr sz="2850" b="1">
                <a:solidFill>
                  <a:srgbClr val="102A3A"/>
                </a:solidFill>
                <a:latin typeface="Arial"/>
                <a:ea typeface="Arial"/>
                <a:cs typeface="Arial"/>
              </a:rPr>
              <a:t>The early planning question</a:t>
            </a:r>
          </a:p>
        </p:txBody>
      </p:sp>
      <p:sp>
        <p:nvSpPr>
          <p:cNvPr id="2" name="">
            <a:extLst xmlns:a="http://schemas.openxmlformats.org/drawingml/2006/main">
              <a:ext uri="{FF2B5EF4-FFF2-40B4-BE49-F238E27FC236}">
                <a16:creationId xmlns:a16="http://schemas.microsoft.com/office/drawing/2014/main" id="{9D98FBBF-C972-4C95-9B24-37B34CF96D37}"/>
              </a:ext>
            </a:extLst>
          </p:cNvPr>
          <p:cNvSpPr>
            <a:spLocks xmlns:a="http://schemas.openxmlformats.org/drawingml/2006/main" noGrp="1"/>
          </p:cNvSpPr>
          <p:nvPr/>
        </p:nvSpPr>
        <p:spPr>
          <a:xfrm xmlns:a="http://schemas.openxmlformats.org/drawingml/2006/main">
            <a:off x="685800" y="1285875"/>
            <a:ext cx="1143000" cy="66675"/>
          </a:xfrm>
          <a:prstGeom xmlns:a="http://schemas.openxmlformats.org/drawingml/2006/main" prst="rect">
            <a:avLst/>
          </a:prstGeom>
          <a:solidFill xmlns:a="http://schemas.openxmlformats.org/drawingml/2006/main">
            <a:srgbClr val="2BB9A4"/>
          </a:solidFill>
          <a:ln xmlns:a="http://schemas.openxmlformats.org/drawingml/2006/main" w="0">
            <a:solidFill>
              <a:srgbClr val="2BB9A4"/>
            </a:solidFill>
          </a:ln>
        </p:spPr>
      </p:sp>
      <p:sp>
        <p:nvSpPr>
          <p:cNvPr id="3" name="">
            <a:extLst xmlns:a="http://schemas.openxmlformats.org/drawingml/2006/main">
              <a:ext uri="{FF2B5EF4-FFF2-40B4-BE49-F238E27FC236}">
                <a16:creationId xmlns:a16="http://schemas.microsoft.com/office/drawing/2014/main" id="{6052FF42-0B28-480E-AE2A-9B9FAC7669C0}"/>
              </a:ext>
            </a:extLst>
          </p:cNvPr>
          <p:cNvSpPr>
            <a:spLocks xmlns:a="http://schemas.openxmlformats.org/drawingml/2006/main" noGrp="1"/>
          </p:cNvSpPr>
          <p:nvPr/>
        </p:nvSpPr>
        <p:spPr>
          <a:xfrm xmlns:a="http://schemas.openxmlformats.org/drawingml/2006/main">
            <a:off x="685800" y="1790700"/>
            <a:ext cx="952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75" b="1">
                <a:solidFill>
                  <a:srgbClr val="102A3A"/>
                </a:solidFill>
                <a:latin typeface="Arial"/>
                <a:ea typeface="Arial"/>
                <a:cs typeface="Arial"/>
              </a:defRPr>
            </a:pPr>
            <a:r>
              <a:rPr sz="2475" b="1">
                <a:solidFill>
                  <a:srgbClr val="102A3A"/>
                </a:solidFill>
                <a:latin typeface="Arial"/>
                <a:ea typeface="Arial"/>
                <a:cs typeface="Arial"/>
              </a:rPr>
              <a:t>Can this site support the proposed development, and what must we check first?</a:t>
            </a:r>
          </a:p>
        </p:txBody>
      </p:sp>
      <p:sp>
        <p:nvSpPr>
          <p:cNvPr id="4" name="">
            <a:extLst xmlns:a="http://schemas.openxmlformats.org/drawingml/2006/main">
              <a:ext uri="{FF2B5EF4-FFF2-40B4-BE49-F238E27FC236}">
                <a16:creationId xmlns:a16="http://schemas.microsoft.com/office/drawing/2014/main" id="{FAFBFF12-1584-49E3-A273-70A7752394E2}"/>
              </a:ext>
            </a:extLst>
          </p:cNvPr>
          <p:cNvSpPr>
            <a:spLocks xmlns:a="http://schemas.openxmlformats.org/drawingml/2006/main" noGrp="1"/>
          </p:cNvSpPr>
          <p:nvPr/>
        </p:nvSpPr>
        <p:spPr>
          <a:xfrm xmlns:a="http://schemas.openxmlformats.org/drawingml/2006/main">
            <a:off x="685800" y="3267075"/>
            <a:ext cx="30289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Planning history</a:t>
            </a:r>
          </a:p>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Nearby approvals and refusals can provide context, but do not guarantee an outcome.</a:t>
            </a:r>
          </a:p>
        </p:txBody>
      </p:sp>
      <p:sp>
        <p:nvSpPr>
          <p:cNvPr id="5" name="">
            <a:extLst xmlns:a="http://schemas.openxmlformats.org/drawingml/2006/main">
              <a:ext uri="{FF2B5EF4-FFF2-40B4-BE49-F238E27FC236}">
                <a16:creationId xmlns:a16="http://schemas.microsoft.com/office/drawing/2014/main" id="{CC4046AF-ACF9-476A-87C8-BBD3F8DC6A40}"/>
              </a:ext>
            </a:extLst>
          </p:cNvPr>
          <p:cNvSpPr>
            <a:spLocks xmlns:a="http://schemas.openxmlformats.org/drawingml/2006/main" noGrp="1"/>
          </p:cNvSpPr>
          <p:nvPr/>
        </p:nvSpPr>
        <p:spPr>
          <a:xfrm xmlns:a="http://schemas.openxmlformats.org/drawingml/2006/main">
            <a:off x="4457700" y="3267075"/>
            <a:ext cx="30289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Site constraints</a:t>
            </a:r>
          </a:p>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Conservation areas, flood risk, protected trees and local-plan layers can materially change a design.</a:t>
            </a:r>
          </a:p>
        </p:txBody>
      </p:sp>
      <p:sp>
        <p:nvSpPr>
          <p:cNvPr id="6" name="">
            <a:extLst xmlns:a="http://schemas.openxmlformats.org/drawingml/2006/main">
              <a:ext uri="{FF2B5EF4-FFF2-40B4-BE49-F238E27FC236}">
                <a16:creationId xmlns:a16="http://schemas.microsoft.com/office/drawing/2014/main" id="{8D9D7AA8-89D1-4B5B-B5EC-38CF439385CD}"/>
              </a:ext>
            </a:extLst>
          </p:cNvPr>
          <p:cNvSpPr>
            <a:spLocks xmlns:a="http://schemas.openxmlformats.org/drawingml/2006/main" noGrp="1"/>
          </p:cNvSpPr>
          <p:nvPr/>
        </p:nvSpPr>
        <p:spPr>
          <a:xfrm xmlns:a="http://schemas.openxmlformats.org/drawingml/2006/main">
            <a:off x="8229600" y="3267075"/>
            <a:ext cx="30289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Evidence burden</a:t>
            </a:r>
          </a:p>
          <a:p xmlns:a="http://schemas.openxmlformats.org/drawingml/2006/main">
            <a:pPr>
              <a:defRPr sz="1500" b="0">
                <a:solidFill>
                  <a:srgbClr val="102A3A"/>
                </a:solidFill>
                <a:latin typeface="Arial"/>
                <a:ea typeface="Arial"/>
                <a:cs typeface="Arial"/>
              </a:defRPr>
            </a:pPr>
            <a:r>
              <a:rPr sz="1500" b="0">
                <a:solidFill>
                  <a:srgbClr val="102A3A"/>
                </a:solidFill>
                <a:latin typeface="Arial"/>
                <a:ea typeface="Arial"/>
                <a:cs typeface="Arial"/>
              </a:rPr>
              <a:t>Users need links, source dates and limitations, rather than a black-box recommendation.</a:t>
            </a:r>
          </a:p>
        </p:txBody>
      </p:sp>
      <p:sp>
        <p:nvSpPr>
          <p:cNvPr id="7" name="">
            <a:extLst xmlns:a="http://schemas.openxmlformats.org/drawingml/2006/main">
              <a:ext uri="{FF2B5EF4-FFF2-40B4-BE49-F238E27FC236}">
                <a16:creationId xmlns:a16="http://schemas.microsoft.com/office/drawing/2014/main" id="{58BA5620-8BC6-4E55-AE9B-DDEF1432A212}"/>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825" b="1">
                <a:solidFill>
                  <a:srgbClr val="4E6472"/>
                </a:solidFill>
                <a:latin typeface="Arial"/>
                <a:ea typeface="Arial"/>
                <a:cs typeface="Arial"/>
              </a:defRPr>
            </a:pPr>
            <a:r>
              <a:rPr sz="825" b="1">
                <a:solidFill>
                  <a:srgbClr val="4E6472"/>
                </a:solidFill>
                <a:latin typeface="Arial"/>
                <a:ea typeface="Arial"/>
                <a:cs typeface="Arial"/>
              </a:rPr>
              <a:t>SITEWISE UK  /  02</a:t>
            </a:r>
          </a:p>
        </p:txBody>
      </p:sp>
    </p:spTree>
    <p:extLst>
      <p:ext uri="{BB962C8B-B14F-4D97-AF65-F5344CB8AC3E}">
        <p14:creationId xmlns:p14="http://schemas.microsoft.com/office/powerpoint/2010/main" val="16723688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27981F-BB9B-41DF-B6D1-F0994F113544}"/>
              </a:ext>
            </a:extLst>
          </p:cNvPr>
          <p:cNvSpPr>
            <a:spLocks xmlns:a="http://schemas.openxmlformats.org/drawingml/2006/main" noGrp="1"/>
          </p:cNvSpPr>
          <p:nvPr/>
        </p:nvSpPr>
        <p:spPr>
          <a:xfrm xmlns:a="http://schemas.openxmlformats.org/drawingml/2006/main">
            <a:off x="685800" y="5905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850" b="1">
                <a:solidFill>
                  <a:srgbClr val="102A3A"/>
                </a:solidFill>
                <a:latin typeface="Arial"/>
                <a:ea typeface="Arial"/>
                <a:cs typeface="Arial"/>
              </a:defRPr>
            </a:pPr>
            <a:r>
              <a:rPr sz="2850" b="1">
                <a:solidFill>
                  <a:srgbClr val="102A3A"/>
                </a:solidFill>
                <a:latin typeface="Arial"/>
                <a:ea typeface="Arial"/>
                <a:cs typeface="Arial"/>
              </a:rPr>
              <a:t>Who can use SiteWise UK</a:t>
            </a:r>
          </a:p>
        </p:txBody>
      </p:sp>
      <p:sp>
        <p:nvSpPr>
          <p:cNvPr id="2" name="">
            <a:extLst xmlns:a="http://schemas.openxmlformats.org/drawingml/2006/main">
              <a:ext uri="{FF2B5EF4-FFF2-40B4-BE49-F238E27FC236}">
                <a16:creationId xmlns:a16="http://schemas.microsoft.com/office/drawing/2014/main" id="{ED4C3D89-C6D0-4AB6-8D2D-8CA753AD5438}"/>
              </a:ext>
            </a:extLst>
          </p:cNvPr>
          <p:cNvSpPr>
            <a:spLocks xmlns:a="http://schemas.openxmlformats.org/drawingml/2006/main" noGrp="1"/>
          </p:cNvSpPr>
          <p:nvPr/>
        </p:nvSpPr>
        <p:spPr>
          <a:xfrm xmlns:a="http://schemas.openxmlformats.org/drawingml/2006/main">
            <a:off x="685800" y="1285875"/>
            <a:ext cx="1143000" cy="66675"/>
          </a:xfrm>
          <a:prstGeom xmlns:a="http://schemas.openxmlformats.org/drawingml/2006/main" prst="rect">
            <a:avLst/>
          </a:prstGeom>
          <a:solidFill xmlns:a="http://schemas.openxmlformats.org/drawingml/2006/main">
            <a:srgbClr val="F47A5A"/>
          </a:solidFill>
          <a:ln xmlns:a="http://schemas.openxmlformats.org/drawingml/2006/main" w="0">
            <a:solidFill>
              <a:srgbClr val="F47A5A"/>
            </a:solidFill>
          </a:ln>
        </p:spPr>
      </p:sp>
      <p:sp>
        <p:nvSpPr>
          <p:cNvPr id="3" name="">
            <a:extLst xmlns:a="http://schemas.openxmlformats.org/drawingml/2006/main">
              <a:ext uri="{FF2B5EF4-FFF2-40B4-BE49-F238E27FC236}">
                <a16:creationId xmlns:a16="http://schemas.microsoft.com/office/drawing/2014/main" id="{0241BBB8-2F43-437D-848D-F5C8C434B364}"/>
              </a:ext>
            </a:extLst>
          </p:cNvPr>
          <p:cNvSpPr>
            <a:spLocks xmlns:a="http://schemas.openxmlformats.org/drawingml/2006/main" noGrp="1"/>
          </p:cNvSpPr>
          <p:nvPr/>
        </p:nvSpPr>
        <p:spPr>
          <a:xfrm xmlns:a="http://schemas.openxmlformats.org/drawingml/2006/main">
            <a:off x="685800" y="1981200"/>
            <a:ext cx="4857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102A3A"/>
                </a:solidFill>
                <a:latin typeface="Arial"/>
                <a:ea typeface="Arial"/>
                <a:cs typeface="Arial"/>
              </a:defRPr>
            </a:pPr>
            <a:r>
              <a:rPr sz="2175" b="1">
                <a:solidFill>
                  <a:srgbClr val="102A3A"/>
                </a:solidFill>
                <a:latin typeface="Arial"/>
                <a:ea typeface="Arial"/>
                <a:cs typeface="Arial"/>
              </a:rPr>
              <a:t>Homeowners and small developers</a:t>
            </a:r>
          </a:p>
        </p:txBody>
      </p:sp>
      <p:sp>
        <p:nvSpPr>
          <p:cNvPr id="4" name="">
            <a:extLst xmlns:a="http://schemas.openxmlformats.org/drawingml/2006/main">
              <a:ext uri="{FF2B5EF4-FFF2-40B4-BE49-F238E27FC236}">
                <a16:creationId xmlns:a16="http://schemas.microsoft.com/office/drawing/2014/main" id="{142161C0-B68D-42F5-BAD0-B5D3FD456F30}"/>
              </a:ext>
            </a:extLst>
          </p:cNvPr>
          <p:cNvSpPr>
            <a:spLocks xmlns:a="http://schemas.openxmlformats.org/drawingml/2006/main" noGrp="1"/>
          </p:cNvSpPr>
          <p:nvPr/>
        </p:nvSpPr>
        <p:spPr>
          <a:xfrm xmlns:a="http://schemas.openxmlformats.org/drawingml/2006/main">
            <a:off x="685800" y="29527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4E6472"/>
                </a:solidFill>
                <a:latin typeface="Arial"/>
                <a:ea typeface="Arial"/>
                <a:cs typeface="Arial"/>
              </a:defRPr>
            </a:pPr>
            <a:r>
              <a:rPr sz="1500" b="0">
                <a:solidFill>
                  <a:srgbClr val="4E6472"/>
                </a:solidFill>
                <a:latin typeface="Arial"/>
                <a:ea typeface="Arial"/>
                <a:cs typeface="Arial"/>
              </a:rPr>
              <a:t>Screen an extension, conversion or small housing proposal before commissioning specialist work.</a:t>
            </a:r>
          </a:p>
        </p:txBody>
      </p:sp>
      <p:sp>
        <p:nvSpPr>
          <p:cNvPr id="5" name="">
            <a:extLst xmlns:a="http://schemas.openxmlformats.org/drawingml/2006/main">
              <a:ext uri="{FF2B5EF4-FFF2-40B4-BE49-F238E27FC236}">
                <a16:creationId xmlns:a16="http://schemas.microsoft.com/office/drawing/2014/main" id="{9535C49A-899D-4D5B-8653-6591499B530C}"/>
              </a:ext>
            </a:extLst>
          </p:cNvPr>
          <p:cNvSpPr>
            <a:spLocks xmlns:a="http://schemas.openxmlformats.org/drawingml/2006/main" noGrp="1"/>
          </p:cNvSpPr>
          <p:nvPr/>
        </p:nvSpPr>
        <p:spPr>
          <a:xfrm xmlns:a="http://schemas.openxmlformats.org/drawingml/2006/main">
            <a:off x="6648450" y="1981200"/>
            <a:ext cx="4429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75" b="1">
                <a:solidFill>
                  <a:srgbClr val="102A3A"/>
                </a:solidFill>
                <a:latin typeface="Arial"/>
                <a:ea typeface="Arial"/>
                <a:cs typeface="Arial"/>
              </a:defRPr>
            </a:pPr>
            <a:r>
              <a:rPr sz="2175" b="1">
                <a:solidFill>
                  <a:srgbClr val="102A3A"/>
                </a:solidFill>
                <a:latin typeface="Arial"/>
                <a:ea typeface="Arial"/>
                <a:cs typeface="Arial"/>
              </a:rPr>
              <a:t>Planning consultants and architects</a:t>
            </a:r>
          </a:p>
        </p:txBody>
      </p:sp>
      <p:sp>
        <p:nvSpPr>
          <p:cNvPr id="6" name="">
            <a:extLst xmlns:a="http://schemas.openxmlformats.org/drawingml/2006/main">
              <a:ext uri="{FF2B5EF4-FFF2-40B4-BE49-F238E27FC236}">
                <a16:creationId xmlns:a16="http://schemas.microsoft.com/office/drawing/2014/main" id="{EF4FBF8D-1309-4958-A09A-A410BA1258B8}"/>
              </a:ext>
            </a:extLst>
          </p:cNvPr>
          <p:cNvSpPr>
            <a:spLocks xmlns:a="http://schemas.openxmlformats.org/drawingml/2006/main" noGrp="1"/>
          </p:cNvSpPr>
          <p:nvPr/>
        </p:nvSpPr>
        <p:spPr>
          <a:xfrm xmlns:a="http://schemas.openxmlformats.org/drawingml/2006/main">
            <a:off x="6648450" y="295275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4E6472"/>
                </a:solidFill>
                <a:latin typeface="Arial"/>
                <a:ea typeface="Arial"/>
                <a:cs typeface="Arial"/>
              </a:defRPr>
            </a:pPr>
            <a:r>
              <a:rPr sz="1500" b="0">
                <a:solidFill>
                  <a:srgbClr val="4E6472"/>
                </a:solidFill>
                <a:latin typeface="Arial"/>
                <a:ea typeface="Arial"/>
                <a:cs typeface="Arial"/>
              </a:rPr>
              <a:t>Use a faster evidence starting point for feasibility discussions and client briefings.</a:t>
            </a:r>
          </a:p>
        </p:txBody>
      </p:sp>
      <p:sp>
        <p:nvSpPr>
          <p:cNvPr id="7" name="">
            <a:extLst xmlns:a="http://schemas.openxmlformats.org/drawingml/2006/main">
              <a:ext uri="{FF2B5EF4-FFF2-40B4-BE49-F238E27FC236}">
                <a16:creationId xmlns:a16="http://schemas.microsoft.com/office/drawing/2014/main" id="{726F66AF-8602-4553-AC8E-B7EFB1B5C90B}"/>
              </a:ext>
            </a:extLst>
          </p:cNvPr>
          <p:cNvSpPr>
            <a:spLocks xmlns:a="http://schemas.openxmlformats.org/drawingml/2006/main" noGrp="1"/>
          </p:cNvSpPr>
          <p:nvPr/>
        </p:nvSpPr>
        <p:spPr>
          <a:xfrm xmlns:a="http://schemas.openxmlformats.org/drawingml/2006/main">
            <a:off x="685800" y="466725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02A3A"/>
                </a:solidFill>
                <a:latin typeface="Arial"/>
                <a:ea typeface="Arial"/>
                <a:cs typeface="Arial"/>
              </a:defRPr>
            </a:pPr>
            <a:r>
              <a:rPr sz="1725" b="1">
                <a:solidFill>
                  <a:srgbClr val="102A3A"/>
                </a:solidFill>
                <a:latin typeface="Arial"/>
                <a:ea typeface="Arial"/>
                <a:cs typeface="Arial"/>
              </a:rPr>
              <a:t>The tool supports investigation. It does not provide a planning decision, legal advice or a complete constraint search.</a:t>
            </a:r>
          </a:p>
        </p:txBody>
      </p:sp>
      <p:sp>
        <p:nvSpPr>
          <p:cNvPr id="8" name="">
            <a:extLst xmlns:a="http://schemas.openxmlformats.org/drawingml/2006/main">
              <a:ext uri="{FF2B5EF4-FFF2-40B4-BE49-F238E27FC236}">
                <a16:creationId xmlns:a16="http://schemas.microsoft.com/office/drawing/2014/main" id="{CC0F7538-CDC7-4648-B6F1-76D366ADBB23}"/>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825" b="1">
                <a:solidFill>
                  <a:srgbClr val="4E6472"/>
                </a:solidFill>
                <a:latin typeface="Arial"/>
                <a:ea typeface="Arial"/>
                <a:cs typeface="Arial"/>
              </a:defRPr>
            </a:pPr>
            <a:r>
              <a:rPr sz="825" b="1">
                <a:solidFill>
                  <a:srgbClr val="4E6472"/>
                </a:solidFill>
                <a:latin typeface="Arial"/>
                <a:ea typeface="Arial"/>
                <a:cs typeface="Arial"/>
              </a:rPr>
              <a:t>SITEWISE UK  /  03</a:t>
            </a:r>
          </a:p>
        </p:txBody>
      </p:sp>
    </p:spTree>
    <p:extLst>
      <p:ext uri="{BB962C8B-B14F-4D97-AF65-F5344CB8AC3E}">
        <p14:creationId xmlns:p14="http://schemas.microsoft.com/office/powerpoint/2010/main" val="130415663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4F9A1B-C4EE-4DD7-B7B3-05D56C575499}"/>
              </a:ext>
            </a:extLst>
          </p:cNvPr>
          <p:cNvSpPr>
            <a:spLocks xmlns:a="http://schemas.openxmlformats.org/drawingml/2006/main" noGrp="1"/>
          </p:cNvSpPr>
          <p:nvPr/>
        </p:nvSpPr>
        <p:spPr>
          <a:xfrm xmlns:a="http://schemas.openxmlformats.org/drawingml/2006/main">
            <a:off x="685800" y="59055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850" b="1">
                <a:solidFill>
                  <a:srgbClr val="102A3A"/>
                </a:solidFill>
                <a:latin typeface="Arial"/>
                <a:ea typeface="Arial"/>
                <a:cs typeface="Arial"/>
              </a:defRPr>
            </a:pPr>
            <a:r>
              <a:rPr sz="2850" b="1">
                <a:solidFill>
                  <a:srgbClr val="102A3A"/>
                </a:solidFill>
                <a:latin typeface="Arial"/>
                <a:ea typeface="Arial"/>
                <a:cs typeface="Arial"/>
              </a:rPr>
              <a:t>Evidence sources and project reuse</a:t>
            </a:r>
          </a:p>
        </p:txBody>
      </p:sp>
      <p:sp>
        <p:nvSpPr>
          <p:cNvPr id="2" name="">
            <a:extLst xmlns:a="http://schemas.openxmlformats.org/drawingml/2006/main">
              <a:ext uri="{FF2B5EF4-FFF2-40B4-BE49-F238E27FC236}">
                <a16:creationId xmlns:a16="http://schemas.microsoft.com/office/drawing/2014/main" id="{55F0FB5D-D73F-494D-8F68-CF6F88562735}"/>
              </a:ext>
            </a:extLst>
          </p:cNvPr>
          <p:cNvSpPr>
            <a:spLocks xmlns:a="http://schemas.openxmlformats.org/drawingml/2006/main" noGrp="1"/>
          </p:cNvSpPr>
          <p:nvPr/>
        </p:nvSpPr>
        <p:spPr>
          <a:xfrm xmlns:a="http://schemas.openxmlformats.org/drawingml/2006/main">
            <a:off x="685800" y="1285875"/>
            <a:ext cx="1143000" cy="66675"/>
          </a:xfrm>
          <a:prstGeom xmlns:a="http://schemas.openxmlformats.org/drawingml/2006/main" prst="rect">
            <a:avLst/>
          </a:prstGeom>
          <a:solidFill xmlns:a="http://schemas.openxmlformats.org/drawingml/2006/main">
            <a:srgbClr val="CBEA63"/>
          </a:solidFill>
          <a:ln xmlns:a="http://schemas.openxmlformats.org/drawingml/2006/main" w="0">
            <a:solidFill>
              <a:srgbClr val="CBEA63"/>
            </a:solidFill>
          </a:ln>
        </p:spPr>
      </p:sp>
      <p:sp>
        <p:nvSpPr>
          <p:cNvPr id="3" name="">
            <a:extLst xmlns:a="http://schemas.openxmlformats.org/drawingml/2006/main">
              <a:ext uri="{FF2B5EF4-FFF2-40B4-BE49-F238E27FC236}">
                <a16:creationId xmlns:a16="http://schemas.microsoft.com/office/drawing/2014/main" id="{986D1C2B-5389-42CF-952F-C1CC33E24CDE}"/>
              </a:ext>
            </a:extLst>
          </p:cNvPr>
          <p:cNvSpPr>
            <a:spLocks xmlns:a="http://schemas.openxmlformats.org/drawingml/2006/main" noGrp="1"/>
          </p:cNvSpPr>
          <p:nvPr/>
        </p:nvSpPr>
        <p:spPr>
          <a:xfrm xmlns:a="http://schemas.openxmlformats.org/drawingml/2006/main">
            <a:off x="685800" y="18383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125" b="1">
                <a:solidFill>
                  <a:srgbClr val="2BB9A4"/>
                </a:solidFill>
                <a:latin typeface="Arial"/>
                <a:ea typeface="Arial"/>
                <a:cs typeface="Arial"/>
              </a:defRPr>
            </a:pPr>
            <a:r>
              <a:rPr sz="1125" b="1">
                <a:solidFill>
                  <a:srgbClr val="2BB9A4"/>
                </a:solidFill>
                <a:latin typeface="Arial"/>
                <a:ea typeface="Arial"/>
                <a:cs typeface="Arial"/>
              </a:rPr>
              <a:t>DATA WE USE</a:t>
            </a:r>
          </a:p>
        </p:txBody>
      </p:sp>
      <p:sp>
        <p:nvSpPr>
          <p:cNvPr id="4" name="">
            <a:extLst xmlns:a="http://schemas.openxmlformats.org/drawingml/2006/main">
              <a:ext uri="{FF2B5EF4-FFF2-40B4-BE49-F238E27FC236}">
                <a16:creationId xmlns:a16="http://schemas.microsoft.com/office/drawing/2014/main" id="{74383591-395C-445F-BD74-EEC966A7A787}"/>
              </a:ext>
            </a:extLst>
          </p:cNvPr>
          <p:cNvSpPr>
            <a:spLocks xmlns:a="http://schemas.openxmlformats.org/drawingml/2006/main" noGrp="1"/>
          </p:cNvSpPr>
          <p:nvPr/>
        </p:nvSpPr>
        <p:spPr>
          <a:xfrm xmlns:a="http://schemas.openxmlformats.org/drawingml/2006/main">
            <a:off x="685800" y="2324100"/>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Supplied London planning applications CSV</a:t>
            </a:r>
          </a:p>
          <a:p xmlns:a="http://schemas.openxmlformats.org/drawingml/2006/main">
            <a:r>
              <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GLA Local Plan ArcGIS layers</a:t>
            </a:r>
          </a:p>
          <a:p xmlns:a="http://schemas.openxmlformats.org/drawingml/2006/main">
            <a:r>
              <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Planning Data API for national constraints</a:t>
            </a:r>
          </a:p>
          <a:p xmlns:a="http://schemas.openxmlformats.org/drawingml/2006/main">
            <a:r>
              <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Official council policy pages and PDFs</a:t>
            </a:r>
          </a:p>
        </p:txBody>
      </p:sp>
      <p:sp>
        <p:nvSpPr>
          <p:cNvPr id="5" name="">
            <a:extLst xmlns:a="http://schemas.openxmlformats.org/drawingml/2006/main">
              <a:ext uri="{FF2B5EF4-FFF2-40B4-BE49-F238E27FC236}">
                <a16:creationId xmlns:a16="http://schemas.microsoft.com/office/drawing/2014/main" id="{3B68A7F1-E735-4579-BDE1-70D0FCA11C8E}"/>
              </a:ext>
            </a:extLst>
          </p:cNvPr>
          <p:cNvSpPr>
            <a:spLocks xmlns:a="http://schemas.openxmlformats.org/drawingml/2006/main" noGrp="1"/>
          </p:cNvSpPr>
          <p:nvPr/>
        </p:nvSpPr>
        <p:spPr>
          <a:xfrm xmlns:a="http://schemas.openxmlformats.org/drawingml/2006/main">
            <a:off x="6667500" y="1838325"/>
            <a:ext cx="442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125" b="1">
                <a:solidFill>
                  <a:srgbClr val="F47A5A"/>
                </a:solidFill>
                <a:latin typeface="Arial"/>
                <a:ea typeface="Arial"/>
                <a:cs typeface="Arial"/>
              </a:defRPr>
            </a:pPr>
            <a:r>
              <a:rPr sz="1125" b="1">
                <a:solidFill>
                  <a:srgbClr val="F47A5A"/>
                </a:solidFill>
                <a:latin typeface="Arial"/>
                <a:ea typeface="Arial"/>
                <a:cs typeface="Arial"/>
              </a:rPr>
              <a:t>REFERENCE PROJECTS</a:t>
            </a:r>
          </a:p>
        </p:txBody>
      </p:sp>
      <p:sp>
        <p:nvSpPr>
          <p:cNvPr id="6" name="">
            <a:extLst xmlns:a="http://schemas.openxmlformats.org/drawingml/2006/main">
              <a:ext uri="{FF2B5EF4-FFF2-40B4-BE49-F238E27FC236}">
                <a16:creationId xmlns:a16="http://schemas.microsoft.com/office/drawing/2014/main" id="{D444DCE7-DBCE-4DA2-9093-D6F32AEA0879}"/>
              </a:ext>
            </a:extLst>
          </p:cNvPr>
          <p:cNvSpPr>
            <a:spLocks xmlns:a="http://schemas.openxmlformats.org/drawingml/2006/main" noGrp="1"/>
          </p:cNvSpPr>
          <p:nvPr/>
        </p:nvSpPr>
        <p:spPr>
          <a:xfrm xmlns:a="http://schemas.openxmlformats.org/drawingml/2006/main">
            <a:off x="6667500" y="2324100"/>
            <a:ext cx="4476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0-the-spike</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Comparable-case similarity patterns</a:t>
            </a:r>
          </a:p>
          <a:p xmlns:a="http://schemas.openxmlformats.org/drawingml/2006/main">
            <a:r>
              <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0-RIBS</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Cache, validation and data-quality patterns</a:t>
            </a:r>
          </a:p>
          <a:p xmlns:a="http://schemas.openxmlformats.org/drawingml/2006/main">
            <a:r>
              <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ConfidentPlanner</a:t>
            </a:r>
          </a:p>
          <a:p xmlns:a="http://schemas.openxmlformats.org/drawingml/2006/main">
            <a:pPr>
              <a:defRPr sz="1650" b="0">
                <a:solidFill>
                  <a:srgbClr val="102A3A"/>
                </a:solidFill>
                <a:latin typeface="Arial"/>
                <a:ea typeface="Arial"/>
                <a:cs typeface="Arial"/>
              </a:defRPr>
            </a:pPr>
            <a:r>
              <a:rPr sz="1650" b="0">
                <a:solidFill>
                  <a:srgbClr val="102A3A"/>
                </a:solidFill>
                <a:latin typeface="Arial"/>
                <a:ea typeface="Arial"/>
                <a:cs typeface="Arial"/>
              </a:rPr>
              <a:t>Spatial and nearby-application patterns</a:t>
            </a:r>
          </a:p>
        </p:txBody>
      </p:sp>
      <p:sp>
        <p:nvSpPr>
          <p:cNvPr id="7" name="">
            <a:extLst xmlns:a="http://schemas.openxmlformats.org/drawingml/2006/main">
              <a:ext uri="{FF2B5EF4-FFF2-40B4-BE49-F238E27FC236}">
                <a16:creationId xmlns:a16="http://schemas.microsoft.com/office/drawing/2014/main" id="{076180CA-6398-4B76-B9D9-87E91D7CA75D}"/>
              </a:ext>
            </a:extLst>
          </p:cNvPr>
          <p:cNvSpPr>
            <a:spLocks xmlns:a="http://schemas.openxmlformats.org/drawingml/2006/main" noGrp="1"/>
          </p:cNvSpPr>
          <p:nvPr/>
        </p:nvSpPr>
        <p:spPr>
          <a:xfrm xmlns:a="http://schemas.openxmlformats.org/drawingml/2006/main">
            <a:off x="685800" y="55245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4E6472"/>
                </a:solidFill>
                <a:latin typeface="Arial"/>
                <a:ea typeface="Arial"/>
                <a:cs typeface="Arial"/>
              </a:defRPr>
            </a:pPr>
            <a:r>
              <a:rPr sz="1275" b="0">
                <a:solidFill>
                  <a:srgbClr val="4E6472"/>
                </a:solidFill>
                <a:latin typeface="Arial"/>
                <a:ea typeface="Arial"/>
                <a:cs typeface="Arial"/>
              </a:rPr>
              <a:t>Reference code informed the design. We adapt only permitted patterns and retain source and licence checks.</a:t>
            </a:r>
          </a:p>
        </p:txBody>
      </p:sp>
      <p:sp>
        <p:nvSpPr>
          <p:cNvPr id="8" name="">
            <a:extLst xmlns:a="http://schemas.openxmlformats.org/drawingml/2006/main">
              <a:ext uri="{FF2B5EF4-FFF2-40B4-BE49-F238E27FC236}">
                <a16:creationId xmlns:a16="http://schemas.microsoft.com/office/drawing/2014/main" id="{68F8A4DF-743F-4A77-91FC-D2CFECEBFEF7}"/>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825" b="1">
                <a:solidFill>
                  <a:srgbClr val="4E6472"/>
                </a:solidFill>
                <a:latin typeface="Arial"/>
                <a:ea typeface="Arial"/>
                <a:cs typeface="Arial"/>
              </a:defRPr>
            </a:pPr>
            <a:r>
              <a:rPr sz="825" b="1">
                <a:solidFill>
                  <a:srgbClr val="4E6472"/>
                </a:solidFill>
                <a:latin typeface="Arial"/>
                <a:ea typeface="Arial"/>
                <a:cs typeface="Arial"/>
              </a:rPr>
              <a:t>SITEWISE UK  /  04</a:t>
            </a:r>
          </a:p>
        </p:txBody>
      </p:sp>
    </p:spTree>
    <p:extLst>
      <p:ext uri="{BB962C8B-B14F-4D97-AF65-F5344CB8AC3E}">
        <p14:creationId xmlns:p14="http://schemas.microsoft.com/office/powerpoint/2010/main" val="483710821"/>
      </p:ext>
    </p:extLst>
  </p:cSld>
</p:sld>
</file>

<file path=ppt/slides/slide5.xml><?xml version="1.0" encoding="utf-8"?>
<p:sld xmlns:p="http://schemas.openxmlformats.org/presentationml/2006/main">
  <p:cSld>
    <p:bg>
      <p:bgPr>
        <a:solidFill xmlns:a="http://schemas.openxmlformats.org/drawingml/2006/main">
          <a:srgbClr val="081D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02FA8E-1067-43ED-B284-EF444E4CB936}"/>
              </a:ext>
            </a:extLst>
          </p:cNvPr>
          <p:cNvSpPr>
            <a:spLocks xmlns:a="http://schemas.openxmlformats.org/drawingml/2006/main" noGrp="1"/>
          </p:cNvSpPr>
          <p:nvPr/>
        </p:nvSpPr>
        <p:spPr>
          <a:xfrm xmlns:a="http://schemas.openxmlformats.org/drawingml/2006/main">
            <a:off x="685800" y="7048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2423B1CD-AC01-42F4-8E9D-634E61E58FC9}"/>
              </a:ext>
            </a:extLst>
          </p:cNvPr>
          <p:cNvSpPr>
            <a:spLocks xmlns:a="http://schemas.openxmlformats.org/drawingml/2006/main" noGrp="1"/>
          </p:cNvSpPr>
          <p:nvPr/>
        </p:nvSpPr>
        <p:spPr>
          <a:xfrm xmlns:a="http://schemas.openxmlformats.org/drawingml/2006/main">
            <a:off x="685800" y="1400175"/>
            <a:ext cx="1143000" cy="66675"/>
          </a:xfrm>
          <a:prstGeom xmlns:a="http://schemas.openxmlformats.org/drawingml/2006/main" prst="rect">
            <a:avLst/>
          </a:prstGeom>
          <a:solidFill xmlns:a="http://schemas.openxmlformats.org/drawingml/2006/main">
            <a:srgbClr val="CBEA63"/>
          </a:solidFill>
          <a:ln xmlns:a="http://schemas.openxmlformats.org/drawingml/2006/main" w="0">
            <a:solidFill>
              <a:srgbClr val="CBEA63"/>
            </a:solidFill>
          </a:ln>
        </p:spPr>
      </p:sp>
      <p:sp>
        <p:nvSpPr>
          <p:cNvPr id="3" name="">
            <a:extLst xmlns:a="http://schemas.openxmlformats.org/drawingml/2006/main">
              <a:ext uri="{FF2B5EF4-FFF2-40B4-BE49-F238E27FC236}">
                <a16:creationId xmlns:a16="http://schemas.microsoft.com/office/drawing/2014/main" id="{A0EE8899-EFD1-488E-9834-6BE56B448550}"/>
              </a:ext>
            </a:extLst>
          </p:cNvPr>
          <p:cNvSpPr>
            <a:spLocks xmlns:a="http://schemas.openxmlformats.org/drawingml/2006/main" noGrp="1"/>
          </p:cNvSpPr>
          <p:nvPr/>
        </p:nvSpPr>
        <p:spPr>
          <a:xfrm xmlns:a="http://schemas.openxmlformats.org/drawingml/2006/main">
            <a:off x="685800" y="2143125"/>
            <a:ext cx="962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325" b="1">
                <a:solidFill>
                  <a:srgbClr val="E4EFF0"/>
                </a:solidFill>
                <a:latin typeface="Arial"/>
                <a:ea typeface="Arial"/>
                <a:cs typeface="Arial"/>
              </a:defRPr>
            </a:pPr>
            <a:r>
              <a:rPr sz="2325" b="1">
                <a:solidFill>
                  <a:srgbClr val="E4EFF0"/>
                </a:solidFill>
                <a:latin typeface="Arial"/>
                <a:ea typeface="Arial"/>
                <a:cs typeface="Arial"/>
              </a:rPr>
              <a:t>I will select a site, describe a proposal, and show the evidence returned.</a:t>
            </a:r>
          </a:p>
        </p:txBody>
      </p:sp>
      <p:sp>
        <p:nvSpPr>
          <p:cNvPr id="4" name="">
            <a:extLst xmlns:a="http://schemas.openxmlformats.org/drawingml/2006/main">
              <a:ext uri="{FF2B5EF4-FFF2-40B4-BE49-F238E27FC236}">
                <a16:creationId xmlns:a16="http://schemas.microsoft.com/office/drawing/2014/main" id="{735113F4-96A7-4634-94B0-034EB910F0E3}"/>
              </a:ext>
            </a:extLst>
          </p:cNvPr>
          <p:cNvSpPr>
            <a:spLocks xmlns:a="http://schemas.openxmlformats.org/drawingml/2006/main" noGrp="1"/>
          </p:cNvSpPr>
          <p:nvPr/>
        </p:nvSpPr>
        <p:spPr>
          <a:xfrm xmlns:a="http://schemas.openxmlformats.org/drawingml/2006/main">
            <a:off x="685800" y="36766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Watch for: comparable applications, constraint and policy findings, source links, and clear warnings where evidence is incomplete.</a:t>
            </a:r>
          </a:p>
        </p:txBody>
      </p:sp>
      <p:sp>
        <p:nvSpPr>
          <p:cNvPr id="5" name="">
            <a:extLst xmlns:a="http://schemas.openxmlformats.org/drawingml/2006/main">
              <a:ext uri="{FF2B5EF4-FFF2-40B4-BE49-F238E27FC236}">
                <a16:creationId xmlns:a16="http://schemas.microsoft.com/office/drawing/2014/main" id="{7A2B79E3-3E94-4629-B0AE-59E6A230D8D3}"/>
              </a:ext>
            </a:extLst>
          </p:cNvPr>
          <p:cNvSpPr>
            <a:spLocks xmlns:a="http://schemas.openxmlformats.org/drawingml/2006/main" noGrp="1"/>
          </p:cNvSpPr>
          <p:nvPr/>
        </p:nvSpPr>
        <p:spPr>
          <a:xfrm xmlns:a="http://schemas.openxmlformats.org/drawingml/2006/main">
            <a:off x="685800" y="5600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1">
                <a:solidFill>
                  <a:srgbClr val="CBEA63"/>
                </a:solidFill>
                <a:latin typeface="Arial"/>
                <a:ea typeface="Arial"/>
                <a:cs typeface="Arial"/>
              </a:defRPr>
            </a:pPr>
            <a:r>
              <a:rPr sz="1275" b="1">
                <a:solidFill>
                  <a:srgbClr val="CBEA63"/>
                </a:solidFill>
                <a:latin typeface="Arial"/>
                <a:ea typeface="Arial"/>
                <a:cs typeface="Arial"/>
              </a:rPr>
              <a:t>Example site from the project guide: 51.47914, -0.16682</a:t>
            </a:r>
          </a:p>
        </p:txBody>
      </p:sp>
      <p:sp>
        <p:nvSpPr>
          <p:cNvPr id="6" name="">
            <a:extLst xmlns:a="http://schemas.openxmlformats.org/drawingml/2006/main">
              <a:ext uri="{FF2B5EF4-FFF2-40B4-BE49-F238E27FC236}">
                <a16:creationId xmlns:a16="http://schemas.microsoft.com/office/drawing/2014/main" id="{6EB4B410-81B9-4F77-82B4-0963A742BA5C}"/>
              </a:ext>
            </a:extLst>
          </p:cNvPr>
          <p:cNvSpPr>
            <a:spLocks xmlns:a="http://schemas.openxmlformats.org/drawingml/2006/main" noGrp="1"/>
          </p:cNvSpPr>
          <p:nvPr/>
        </p:nvSpPr>
        <p:spPr>
          <a:xfrm xmlns:a="http://schemas.openxmlformats.org/drawingml/2006/main">
            <a:off x="685800" y="6362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825" b="1">
                <a:solidFill>
                  <a:srgbClr val="E4EFF0"/>
                </a:solidFill>
                <a:latin typeface="Arial"/>
                <a:ea typeface="Arial"/>
                <a:cs typeface="Arial"/>
              </a:defRPr>
            </a:pPr>
            <a:r>
              <a:rPr sz="825" b="1">
                <a:solidFill>
                  <a:srgbClr val="E4EFF0"/>
                </a:solidFill>
                <a:latin typeface="Arial"/>
                <a:ea typeface="Arial"/>
                <a:cs typeface="Arial"/>
              </a:rPr>
              <a:t>SITEWISE UK  /  LIVE DEMO</a:t>
            </a:r>
          </a:p>
        </p:txBody>
      </p:sp>
    </p:spTree>
    <p:extLst>
      <p:ext uri="{BB962C8B-B14F-4D97-AF65-F5344CB8AC3E}">
        <p14:creationId xmlns:p14="http://schemas.microsoft.com/office/powerpoint/2010/main" val="1217866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2026-09-26T15:48:41.3590000Z</dcterms:created>
  <dcterms:modified xsi:type="dcterms:W3CDTF">2026-09-26T15:48:41.3590000Z</dcterms:modified>
</coreProperties>
</file>